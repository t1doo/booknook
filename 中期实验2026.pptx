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</p:sldIdLst>
  <p:sldSz cx="9144000" cy="6858000" type="screen4x3"/>
  <p:notesSz cx="9144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>
      <p:cViewPr varScale="1">
        <p:scale>
          <a:sx n="120" d="100"/>
          <a:sy n="120" d="100"/>
        </p:scale>
        <p:origin x="1592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凯南 涂" userId="d3e03888af22be2a" providerId="LiveId" clId="{D9D2CE7A-C1A9-53A7-B6E1-BF3F49407B1C}"/>
    <pc:docChg chg="modSld">
      <pc:chgData name="凯南 涂" userId="d3e03888af22be2a" providerId="LiveId" clId="{D9D2CE7A-C1A9-53A7-B6E1-BF3F49407B1C}" dt="2026-05-06T13:33:18.770" v="11" actId="20577"/>
      <pc:docMkLst>
        <pc:docMk/>
      </pc:docMkLst>
      <pc:sldChg chg="modSp mod">
        <pc:chgData name="凯南 涂" userId="d3e03888af22be2a" providerId="LiveId" clId="{D9D2CE7A-C1A9-53A7-B6E1-BF3F49407B1C}" dt="2026-05-06T13:33:18.770" v="11" actId="20577"/>
        <pc:sldMkLst>
          <pc:docMk/>
          <pc:sldMk cId="0" sldId="263"/>
        </pc:sldMkLst>
        <pc:spChg chg="mod">
          <ac:chgData name="凯南 涂" userId="d3e03888af22be2a" providerId="LiveId" clId="{D9D2CE7A-C1A9-53A7-B6E1-BF3F49407B1C}" dt="2026-05-06T13:33:18.770" v="11" actId="20577"/>
          <ac:spMkLst>
            <pc:docMk/>
            <pc:sldMk cId="0" sldId="263"/>
            <ac:spMk id="2" creationId="{00000000-0000-0000-0000-000000000000}"/>
          </ac:spMkLst>
        </pc:spChg>
      </pc:sldChg>
      <pc:sldChg chg="modSp mod">
        <pc:chgData name="凯南 涂" userId="d3e03888af22be2a" providerId="LiveId" clId="{D9D2CE7A-C1A9-53A7-B6E1-BF3F49407B1C}" dt="2026-05-06T13:30:54.549" v="9" actId="20577"/>
        <pc:sldMkLst>
          <pc:docMk/>
          <pc:sldMk cId="0" sldId="267"/>
        </pc:sldMkLst>
        <pc:spChg chg="mod">
          <ac:chgData name="凯南 涂" userId="d3e03888af22be2a" providerId="LiveId" clId="{D9D2CE7A-C1A9-53A7-B6E1-BF3F49407B1C}" dt="2026-05-06T13:30:54.549" v="9" actId="20577"/>
          <ac:spMkLst>
            <pc:docMk/>
            <pc:sldMk cId="0" sldId="267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001B36"/>
                </a:solidFill>
                <a:latin typeface="Book Antiqua" panose="02040602050305030304"/>
                <a:cs typeface="Book Antiqua" panose="02040602050305030304"/>
              </a:defRPr>
            </a:lvl1pPr>
          </a:lstStyle>
          <a:p>
            <a:pPr marL="25400">
              <a:lnSpc>
                <a:spcPct val="100000"/>
              </a:lnSpc>
              <a:spcBef>
                <a:spcPts val="1490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7875269" y="5566408"/>
            <a:ext cx="1040129" cy="104012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461962" y="6567487"/>
            <a:ext cx="7201534" cy="0"/>
          </a:xfrm>
          <a:custGeom>
            <a:avLst/>
            <a:gdLst/>
            <a:ahLst/>
            <a:cxnLst/>
            <a:rect l="l" t="t" r="r" b="b"/>
            <a:pathLst>
              <a:path w="7201534">
                <a:moveTo>
                  <a:pt x="0" y="0"/>
                </a:moveTo>
                <a:lnTo>
                  <a:pt x="7200963" y="0"/>
                </a:lnTo>
              </a:path>
            </a:pathLst>
          </a:custGeom>
          <a:ln w="9534">
            <a:solidFill>
              <a:srgbClr val="51848E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366712" y="985774"/>
            <a:ext cx="8230234" cy="635"/>
          </a:xfrm>
          <a:custGeom>
            <a:avLst/>
            <a:gdLst/>
            <a:ahLst/>
            <a:cxnLst/>
            <a:rect l="l" t="t" r="r" b="b"/>
            <a:pathLst>
              <a:path w="8230234" h="634">
                <a:moveTo>
                  <a:pt x="0" y="126"/>
                </a:moveTo>
                <a:lnTo>
                  <a:pt x="8229663" y="0"/>
                </a:lnTo>
              </a:path>
            </a:pathLst>
          </a:custGeom>
          <a:ln w="9534">
            <a:solidFill>
              <a:srgbClr val="51848E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457200" y="6581775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0" y="0"/>
                </a:moveTo>
                <a:lnTo>
                  <a:pt x="0" y="152400"/>
                </a:lnTo>
                <a:lnTo>
                  <a:pt x="11430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51848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001B36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001B36"/>
                </a:solidFill>
                <a:latin typeface="Book Antiqua" panose="02040602050305030304"/>
                <a:cs typeface="Book Antiqua" panose="02040602050305030304"/>
              </a:defRPr>
            </a:lvl1pPr>
          </a:lstStyle>
          <a:p>
            <a:pPr marL="25400">
              <a:lnSpc>
                <a:spcPct val="100000"/>
              </a:lnSpc>
              <a:spcBef>
                <a:spcPts val="1490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001B36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001B36"/>
                </a:solidFill>
                <a:latin typeface="Book Antiqua" panose="02040602050305030304"/>
                <a:cs typeface="Book Antiqua" panose="02040602050305030304"/>
              </a:defRPr>
            </a:lvl1pPr>
          </a:lstStyle>
          <a:p>
            <a:pPr marL="25400">
              <a:lnSpc>
                <a:spcPct val="100000"/>
              </a:lnSpc>
              <a:spcBef>
                <a:spcPts val="1490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7875269" y="5566408"/>
            <a:ext cx="1040129" cy="104012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461962" y="6357937"/>
            <a:ext cx="7201534" cy="0"/>
          </a:xfrm>
          <a:custGeom>
            <a:avLst/>
            <a:gdLst/>
            <a:ahLst/>
            <a:cxnLst/>
            <a:rect l="l" t="t" r="r" b="b"/>
            <a:pathLst>
              <a:path w="7201534">
                <a:moveTo>
                  <a:pt x="0" y="0"/>
                </a:moveTo>
                <a:lnTo>
                  <a:pt x="7200963" y="0"/>
                </a:lnTo>
              </a:path>
            </a:pathLst>
          </a:custGeom>
          <a:ln w="9534">
            <a:solidFill>
              <a:srgbClr val="51848E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366712" y="1147699"/>
            <a:ext cx="8230234" cy="635"/>
          </a:xfrm>
          <a:custGeom>
            <a:avLst/>
            <a:gdLst/>
            <a:ahLst/>
            <a:cxnLst/>
            <a:rect l="l" t="t" r="r" b="b"/>
            <a:pathLst>
              <a:path w="8230234" h="634">
                <a:moveTo>
                  <a:pt x="0" y="126"/>
                </a:moveTo>
                <a:lnTo>
                  <a:pt x="8229663" y="0"/>
                </a:lnTo>
              </a:path>
            </a:pathLst>
          </a:custGeom>
          <a:ln w="9534">
            <a:solidFill>
              <a:srgbClr val="51848E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457200" y="6429375"/>
            <a:ext cx="114300" cy="190500"/>
          </a:xfrm>
          <a:custGeom>
            <a:avLst/>
            <a:gdLst/>
            <a:ahLst/>
            <a:cxnLst/>
            <a:rect l="l" t="t" r="r" b="b"/>
            <a:pathLst>
              <a:path w="114300" h="190500">
                <a:moveTo>
                  <a:pt x="0" y="0"/>
                </a:moveTo>
                <a:lnTo>
                  <a:pt x="0" y="190500"/>
                </a:lnTo>
                <a:lnTo>
                  <a:pt x="11430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51848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001B36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001B36"/>
                </a:solidFill>
                <a:latin typeface="Book Antiqua" panose="02040602050305030304"/>
                <a:cs typeface="Book Antiqua" panose="02040602050305030304"/>
              </a:defRPr>
            </a:lvl1pPr>
          </a:lstStyle>
          <a:p>
            <a:pPr marL="25400">
              <a:lnSpc>
                <a:spcPct val="100000"/>
              </a:lnSpc>
              <a:spcBef>
                <a:spcPts val="1490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001B36"/>
                </a:solidFill>
                <a:latin typeface="Book Antiqua" panose="02040602050305030304"/>
                <a:cs typeface="Book Antiqua" panose="02040602050305030304"/>
              </a:defRPr>
            </a:lvl1pPr>
          </a:lstStyle>
          <a:p>
            <a:pPr marL="25400">
              <a:lnSpc>
                <a:spcPct val="100000"/>
              </a:lnSpc>
              <a:spcBef>
                <a:spcPts val="1490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7875269" y="5566408"/>
            <a:ext cx="1040129" cy="104012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36975" y="3039363"/>
            <a:ext cx="1670049" cy="518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001B36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66065" y="1145194"/>
            <a:ext cx="8611869" cy="45129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79450" y="6410863"/>
            <a:ext cx="242569" cy="4311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001B36"/>
                </a:solidFill>
                <a:latin typeface="Book Antiqua" panose="02040602050305030304"/>
                <a:cs typeface="Book Antiqua" panose="02040602050305030304"/>
              </a:defRPr>
            </a:lvl1pPr>
          </a:lstStyle>
          <a:p>
            <a:pPr marL="25400">
              <a:lnSpc>
                <a:spcPct val="100000"/>
              </a:lnSpc>
              <a:spcBef>
                <a:spcPts val="1490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30"/>
              </a:spcBef>
            </a:pPr>
            <a:r>
              <a:rPr spc="30" dirty="0"/>
              <a:t>中期实验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490"/>
              </a:spcBef>
            </a:pPr>
            <a:fld id="{81D60167-4931-47E6-BA6A-407CBD079E47}" type="slidenum">
              <a:rPr spc="10" dirty="0"/>
              <a:t>1</a:t>
            </a:fld>
            <a:endParaRPr spc="1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575" y="1162303"/>
            <a:ext cx="7784465" cy="1466215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0"/>
              </a:spcBef>
              <a:tabLst>
                <a:tab pos="288925" algn="l"/>
              </a:tabLst>
            </a:pPr>
            <a:r>
              <a:rPr sz="2100" dirty="0">
                <a:solidFill>
                  <a:srgbClr val="4679B0"/>
                </a:solidFill>
                <a:latin typeface="Wingdings 3" panose="05040102010807070707"/>
                <a:cs typeface="Wingdings 3" panose="05040102010807070707"/>
              </a:rPr>
              <a:t></a:t>
            </a:r>
            <a:r>
              <a:rPr sz="2100" dirty="0">
                <a:solidFill>
                  <a:srgbClr val="4679B0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750" b="1" spc="95" dirty="0">
                <a:latin typeface="Microsoft JhengHei" panose="020B0604030504040204" charset="-120"/>
                <a:cs typeface="Microsoft JhengHei" panose="020B0604030504040204" charset="-120"/>
              </a:rPr>
              <a:t>实</a:t>
            </a:r>
            <a:r>
              <a:rPr sz="2750" b="1" spc="30" dirty="0">
                <a:latin typeface="Microsoft JhengHei" panose="020B0604030504040204" charset="-120"/>
                <a:cs typeface="Microsoft JhengHei" panose="020B0604030504040204" charset="-120"/>
              </a:rPr>
              <a:t>验</a:t>
            </a:r>
            <a:r>
              <a:rPr sz="2750" b="1" spc="95" dirty="0">
                <a:latin typeface="Microsoft JhengHei" panose="020B0604030504040204" charset="-120"/>
                <a:cs typeface="Microsoft JhengHei" panose="020B0604030504040204" charset="-120"/>
              </a:rPr>
              <a:t>题</a:t>
            </a:r>
            <a:r>
              <a:rPr sz="2750" b="1" spc="30" dirty="0">
                <a:latin typeface="Microsoft JhengHei" panose="020B0604030504040204" charset="-120"/>
                <a:cs typeface="Microsoft JhengHei" panose="020B0604030504040204" charset="-120"/>
              </a:rPr>
              <a:t>目</a:t>
            </a:r>
            <a:r>
              <a:rPr sz="2750" b="1" spc="105" dirty="0">
                <a:latin typeface="Microsoft JhengHei" panose="020B0604030504040204" charset="-120"/>
                <a:cs typeface="Microsoft JhengHei" panose="020B0604030504040204" charset="-120"/>
              </a:rPr>
              <a:t>：</a:t>
            </a:r>
            <a:r>
              <a:rPr sz="2750" spc="30" dirty="0">
                <a:latin typeface="宋体" panose="02010600030101010101" pitchFamily="2" charset="-122"/>
                <a:cs typeface="宋体" panose="02010600030101010101" pitchFamily="2" charset="-122"/>
              </a:rPr>
              <a:t>图书</a:t>
            </a:r>
            <a:r>
              <a:rPr sz="2750" spc="90" dirty="0">
                <a:latin typeface="宋体" panose="02010600030101010101" pitchFamily="2" charset="-122"/>
                <a:cs typeface="宋体" panose="02010600030101010101" pitchFamily="2" charset="-122"/>
              </a:rPr>
              <a:t>销</a:t>
            </a:r>
            <a:r>
              <a:rPr sz="2750" spc="30" dirty="0">
                <a:latin typeface="宋体" panose="02010600030101010101" pitchFamily="2" charset="-122"/>
                <a:cs typeface="宋体" panose="02010600030101010101" pitchFamily="2" charset="-122"/>
              </a:rPr>
              <a:t>售管</a:t>
            </a:r>
            <a:r>
              <a:rPr sz="2750" spc="90" dirty="0">
                <a:latin typeface="宋体" panose="02010600030101010101" pitchFamily="2" charset="-122"/>
                <a:cs typeface="宋体" panose="02010600030101010101" pitchFamily="2" charset="-122"/>
              </a:rPr>
              <a:t>理</a:t>
            </a:r>
            <a:r>
              <a:rPr sz="2750" spc="30" dirty="0">
                <a:latin typeface="宋体" panose="02010600030101010101" pitchFamily="2" charset="-122"/>
                <a:cs typeface="宋体" panose="02010600030101010101" pitchFamily="2" charset="-122"/>
              </a:rPr>
              <a:t>系统</a:t>
            </a:r>
            <a:r>
              <a:rPr sz="2750" spc="90" dirty="0">
                <a:latin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sz="2750" spc="30" dirty="0">
                <a:latin typeface="宋体" panose="02010600030101010101" pitchFamily="2" charset="-122"/>
                <a:cs typeface="宋体" panose="02010600030101010101" pitchFamily="2" charset="-122"/>
              </a:rPr>
              <a:t>设计</a:t>
            </a:r>
            <a:r>
              <a:rPr sz="2750" spc="90" dirty="0">
                <a:latin typeface="宋体" panose="02010600030101010101" pitchFamily="2" charset="-122"/>
                <a:cs typeface="宋体" panose="02010600030101010101" pitchFamily="2" charset="-122"/>
              </a:rPr>
              <a:t>与</a:t>
            </a:r>
            <a:r>
              <a:rPr sz="2750" spc="30" dirty="0">
                <a:latin typeface="宋体" panose="02010600030101010101" pitchFamily="2" charset="-122"/>
                <a:cs typeface="宋体" panose="02010600030101010101" pitchFamily="2" charset="-122"/>
              </a:rPr>
              <a:t>实现</a:t>
            </a:r>
            <a:endParaRPr sz="27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88925" marR="5080" indent="-276860">
              <a:lnSpc>
                <a:spcPts val="3230"/>
              </a:lnSpc>
              <a:spcBef>
                <a:spcPts val="920"/>
              </a:spcBef>
              <a:tabLst>
                <a:tab pos="288925" algn="l"/>
              </a:tabLst>
            </a:pPr>
            <a:r>
              <a:rPr sz="2100" dirty="0">
                <a:solidFill>
                  <a:srgbClr val="4679B0"/>
                </a:solidFill>
                <a:latin typeface="Wingdings 3" panose="05040102010807070707"/>
                <a:cs typeface="Wingdings 3" panose="05040102010807070707"/>
              </a:rPr>
              <a:t></a:t>
            </a:r>
            <a:r>
              <a:rPr sz="2100" dirty="0">
                <a:solidFill>
                  <a:srgbClr val="4679B0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750" b="1" spc="95" dirty="0">
                <a:latin typeface="Microsoft JhengHei" panose="020B0604030504040204" charset="-120"/>
                <a:cs typeface="Microsoft JhengHei" panose="020B0604030504040204" charset="-120"/>
              </a:rPr>
              <a:t>实</a:t>
            </a:r>
            <a:r>
              <a:rPr sz="2750" b="1" spc="30" dirty="0">
                <a:latin typeface="Microsoft JhengHei" panose="020B0604030504040204" charset="-120"/>
                <a:cs typeface="Microsoft JhengHei" panose="020B0604030504040204" charset="-120"/>
              </a:rPr>
              <a:t>验</a:t>
            </a:r>
            <a:r>
              <a:rPr sz="2750" b="1" spc="95" dirty="0">
                <a:latin typeface="Microsoft JhengHei" panose="020B0604030504040204" charset="-120"/>
                <a:cs typeface="Microsoft JhengHei" panose="020B0604030504040204" charset="-120"/>
              </a:rPr>
              <a:t>背</a:t>
            </a:r>
            <a:r>
              <a:rPr sz="2750" b="1" spc="30" dirty="0">
                <a:latin typeface="Microsoft JhengHei" panose="020B0604030504040204" charset="-120"/>
                <a:cs typeface="Microsoft JhengHei" panose="020B0604030504040204" charset="-120"/>
              </a:rPr>
              <a:t>景</a:t>
            </a:r>
            <a:r>
              <a:rPr sz="2750" b="1" spc="105" dirty="0">
                <a:latin typeface="Microsoft JhengHei" panose="020B0604030504040204" charset="-120"/>
                <a:cs typeface="Microsoft JhengHei" panose="020B0604030504040204" charset="-120"/>
              </a:rPr>
              <a:t>：</a:t>
            </a:r>
            <a:r>
              <a:rPr sz="2750" spc="30" dirty="0">
                <a:latin typeface="宋体" panose="02010600030101010101" pitchFamily="2" charset="-122"/>
                <a:cs typeface="宋体" panose="02010600030101010101" pitchFamily="2" charset="-122"/>
              </a:rPr>
              <a:t>某书</a:t>
            </a:r>
            <a:r>
              <a:rPr sz="2750" spc="90" dirty="0">
                <a:latin typeface="宋体" panose="02010600030101010101" pitchFamily="2" charset="-122"/>
                <a:cs typeface="宋体" panose="02010600030101010101" pitchFamily="2" charset="-122"/>
              </a:rPr>
              <a:t>城</a:t>
            </a:r>
            <a:r>
              <a:rPr sz="2750" spc="30" dirty="0">
                <a:latin typeface="宋体" panose="02010600030101010101" pitchFamily="2" charset="-122"/>
                <a:cs typeface="宋体" panose="02010600030101010101" pitchFamily="2" charset="-122"/>
              </a:rPr>
              <a:t>需要</a:t>
            </a:r>
            <a:r>
              <a:rPr sz="2750" spc="90" dirty="0">
                <a:latin typeface="宋体" panose="02010600030101010101" pitchFamily="2" charset="-122"/>
                <a:cs typeface="宋体" panose="02010600030101010101" pitchFamily="2" charset="-122"/>
              </a:rPr>
              <a:t>一</a:t>
            </a:r>
            <a:r>
              <a:rPr sz="2750" spc="30" dirty="0">
                <a:latin typeface="宋体" panose="02010600030101010101" pitchFamily="2" charset="-122"/>
                <a:cs typeface="宋体" panose="02010600030101010101" pitchFamily="2" charset="-122"/>
              </a:rPr>
              <a:t>套图</a:t>
            </a:r>
            <a:r>
              <a:rPr sz="2750" spc="90" dirty="0">
                <a:latin typeface="宋体" panose="02010600030101010101" pitchFamily="2" charset="-122"/>
                <a:cs typeface="宋体" panose="02010600030101010101" pitchFamily="2" charset="-122"/>
              </a:rPr>
              <a:t>书</a:t>
            </a:r>
            <a:r>
              <a:rPr sz="2750" spc="30" dirty="0">
                <a:latin typeface="宋体" panose="02010600030101010101" pitchFamily="2" charset="-122"/>
                <a:cs typeface="宋体" panose="02010600030101010101" pitchFamily="2" charset="-122"/>
              </a:rPr>
              <a:t>管理</a:t>
            </a:r>
            <a:r>
              <a:rPr sz="2750" spc="90" dirty="0">
                <a:latin typeface="宋体" panose="02010600030101010101" pitchFamily="2" charset="-122"/>
                <a:cs typeface="宋体" panose="02010600030101010101" pitchFamily="2" charset="-122"/>
              </a:rPr>
              <a:t>系</a:t>
            </a:r>
            <a:r>
              <a:rPr sz="2750" spc="30" dirty="0">
                <a:latin typeface="宋体" panose="02010600030101010101" pitchFamily="2" charset="-122"/>
                <a:cs typeface="宋体" panose="02010600030101010101" pitchFamily="2" charset="-122"/>
              </a:rPr>
              <a:t>统对</a:t>
            </a:r>
            <a:r>
              <a:rPr sz="2750" spc="90" dirty="0">
                <a:latin typeface="宋体" panose="02010600030101010101" pitchFamily="2" charset="-122"/>
                <a:cs typeface="宋体" panose="02010600030101010101" pitchFamily="2" charset="-122"/>
              </a:rPr>
              <a:t>图</a:t>
            </a:r>
            <a:r>
              <a:rPr sz="2750" spc="20" dirty="0">
                <a:latin typeface="宋体" panose="02010600030101010101" pitchFamily="2" charset="-122"/>
                <a:cs typeface="宋体" panose="02010600030101010101" pitchFamily="2" charset="-122"/>
              </a:rPr>
              <a:t>书 </a:t>
            </a:r>
            <a:r>
              <a:rPr sz="2750" spc="95" dirty="0">
                <a:latin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sz="2750" spc="30" dirty="0">
                <a:latin typeface="宋体" panose="02010600030101010101" pitchFamily="2" charset="-122"/>
                <a:cs typeface="宋体" panose="02010600030101010101" pitchFamily="2" charset="-122"/>
              </a:rPr>
              <a:t>进货</a:t>
            </a:r>
            <a:r>
              <a:rPr sz="2750" spc="90" dirty="0"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2750" spc="30" dirty="0">
                <a:latin typeface="宋体" panose="02010600030101010101" pitchFamily="2" charset="-122"/>
                <a:cs typeface="宋体" panose="02010600030101010101" pitchFamily="2" charset="-122"/>
              </a:rPr>
              <a:t>销售</a:t>
            </a:r>
            <a:r>
              <a:rPr sz="2750" spc="90" dirty="0"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2750" spc="30" dirty="0">
                <a:latin typeface="宋体" panose="02010600030101010101" pitchFamily="2" charset="-122"/>
                <a:cs typeface="宋体" panose="02010600030101010101" pitchFamily="2" charset="-122"/>
              </a:rPr>
              <a:t>财务</a:t>
            </a:r>
            <a:r>
              <a:rPr sz="2750" spc="90" dirty="0">
                <a:latin typeface="宋体" panose="02010600030101010101" pitchFamily="2" charset="-122"/>
                <a:cs typeface="宋体" panose="02010600030101010101" pitchFamily="2" charset="-122"/>
              </a:rPr>
              <a:t>等</a:t>
            </a:r>
            <a:r>
              <a:rPr sz="2750" spc="30" dirty="0">
                <a:latin typeface="宋体" panose="02010600030101010101" pitchFamily="2" charset="-122"/>
                <a:cs typeface="宋体" panose="02010600030101010101" pitchFamily="2" charset="-122"/>
              </a:rPr>
              <a:t>方面</a:t>
            </a:r>
            <a:r>
              <a:rPr sz="2750" spc="90" dirty="0">
                <a:latin typeface="宋体" panose="02010600030101010101" pitchFamily="2" charset="-122"/>
                <a:cs typeface="宋体" panose="02010600030101010101" pitchFamily="2" charset="-122"/>
              </a:rPr>
              <a:t>进</a:t>
            </a:r>
            <a:r>
              <a:rPr sz="2750" spc="30" dirty="0">
                <a:latin typeface="宋体" panose="02010600030101010101" pitchFamily="2" charset="-122"/>
                <a:cs typeface="宋体" panose="02010600030101010101" pitchFamily="2" charset="-122"/>
              </a:rPr>
              <a:t>行统</a:t>
            </a:r>
            <a:r>
              <a:rPr sz="2750" spc="90" dirty="0">
                <a:latin typeface="宋体" panose="02010600030101010101" pitchFamily="2" charset="-122"/>
                <a:cs typeface="宋体" panose="02010600030101010101" pitchFamily="2" charset="-122"/>
              </a:rPr>
              <a:t>一</a:t>
            </a:r>
            <a:r>
              <a:rPr sz="2750" spc="30" dirty="0">
                <a:latin typeface="宋体" panose="02010600030101010101" pitchFamily="2" charset="-122"/>
                <a:cs typeface="宋体" panose="02010600030101010101" pitchFamily="2" charset="-122"/>
              </a:rPr>
              <a:t>管理。</a:t>
            </a:r>
            <a:endParaRPr sz="27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490"/>
              </a:spcBef>
            </a:pPr>
            <a:fld id="{81D60167-4931-47E6-BA6A-407CBD079E47}" type="slidenum">
              <a:rPr spc="10" dirty="0"/>
              <a:t>2</a:t>
            </a:fld>
            <a:endParaRPr spc="1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74662" y="267017"/>
            <a:ext cx="2057400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spc="95" dirty="0">
                <a:solidFill>
                  <a:srgbClr val="000000"/>
                </a:solidFill>
              </a:rPr>
              <a:t>中</a:t>
            </a:r>
            <a:r>
              <a:rPr sz="3950" spc="30" dirty="0">
                <a:solidFill>
                  <a:srgbClr val="000000"/>
                </a:solidFill>
              </a:rPr>
              <a:t>期实验</a:t>
            </a:r>
            <a:endParaRPr sz="39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282575">
              <a:lnSpc>
                <a:spcPct val="100000"/>
              </a:lnSpc>
              <a:spcBef>
                <a:spcPts val="810"/>
              </a:spcBef>
              <a:tabLst>
                <a:tab pos="559435" algn="l"/>
              </a:tabLst>
            </a:pPr>
            <a:r>
              <a:rPr sz="2100" dirty="0">
                <a:solidFill>
                  <a:srgbClr val="4679B0"/>
                </a:solidFill>
                <a:latin typeface="Wingdings 3" panose="05040102010807070707"/>
                <a:cs typeface="Wingdings 3" panose="05040102010807070707"/>
              </a:rPr>
              <a:t></a:t>
            </a:r>
            <a:r>
              <a:rPr sz="2100" dirty="0">
                <a:solidFill>
                  <a:srgbClr val="4679B0"/>
                </a:solidFill>
              </a:rPr>
              <a:t>	</a:t>
            </a:r>
            <a:r>
              <a:rPr spc="25" dirty="0"/>
              <a:t>1.</a:t>
            </a:r>
            <a:r>
              <a:rPr spc="-35" dirty="0"/>
              <a:t> </a:t>
            </a:r>
            <a:r>
              <a:rPr spc="100" dirty="0">
                <a:latin typeface="宋体" panose="02010600030101010101" pitchFamily="2" charset="-122"/>
                <a:cs typeface="宋体" panose="02010600030101010101" pitchFamily="2" charset="-122"/>
              </a:rPr>
              <a:t>用户管理</a:t>
            </a:r>
            <a:endParaRPr sz="21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835660" marR="252730" indent="-276860">
              <a:lnSpc>
                <a:spcPct val="100000"/>
              </a:lnSpc>
              <a:spcBef>
                <a:spcPts val="525"/>
              </a:spcBef>
              <a:tabLst>
                <a:tab pos="835660" algn="l"/>
              </a:tabLst>
            </a:pPr>
            <a:r>
              <a:rPr sz="1500" dirty="0">
                <a:solidFill>
                  <a:srgbClr val="51848E"/>
                </a:solidFill>
                <a:latin typeface="Wingdings 3" panose="05040102010807070707"/>
                <a:cs typeface="Wingdings 3" panose="05040102010807070707"/>
              </a:rPr>
              <a:t></a:t>
            </a:r>
            <a:r>
              <a:rPr sz="1500" dirty="0">
                <a:solidFill>
                  <a:srgbClr val="51848E"/>
                </a:solidFill>
              </a:rPr>
              <a:t>	</a:t>
            </a:r>
            <a:r>
              <a:rPr sz="2000" spc="-30" dirty="0"/>
              <a:t>1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）系统用户</a:t>
            </a:r>
            <a:r>
              <a:rPr sz="2000" spc="-50" dirty="0">
                <a:latin typeface="宋体" panose="02010600030101010101" pitchFamily="2" charset="-122"/>
                <a:cs typeface="宋体" panose="02010600030101010101" pitchFamily="2" charset="-122"/>
              </a:rPr>
              <a:t>分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为超</a:t>
            </a:r>
            <a:r>
              <a:rPr sz="2000" spc="-50" dirty="0">
                <a:latin typeface="宋体" panose="02010600030101010101" pitchFamily="2" charset="-122"/>
                <a:cs typeface="宋体" panose="02010600030101010101" pitchFamily="2" charset="-122"/>
              </a:rPr>
              <a:t>级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管理</a:t>
            </a:r>
            <a:r>
              <a:rPr sz="2000" spc="-50" dirty="0">
                <a:latin typeface="宋体" panose="02010600030101010101" pitchFamily="2" charset="-122"/>
                <a:cs typeface="宋体" panose="02010600030101010101" pitchFamily="2" charset="-122"/>
              </a:rPr>
              <a:t>员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用户</a:t>
            </a:r>
            <a:r>
              <a:rPr sz="2000" spc="-50" dirty="0">
                <a:latin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普通</a:t>
            </a:r>
            <a:r>
              <a:rPr sz="2000" spc="-50" dirty="0">
                <a:latin typeface="宋体" panose="02010600030101010101" pitchFamily="2" charset="-122"/>
                <a:cs typeface="宋体" panose="02010600030101010101" pitchFamily="2" charset="-122"/>
              </a:rPr>
              <a:t>管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理员</a:t>
            </a:r>
            <a:r>
              <a:rPr sz="2000" spc="-50" dirty="0">
                <a:latin typeface="宋体" panose="02010600030101010101" pitchFamily="2" charset="-122"/>
                <a:cs typeface="宋体" panose="02010600030101010101" pitchFamily="2" charset="-122"/>
              </a:rPr>
              <a:t>用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户。</a:t>
            </a:r>
            <a:r>
              <a:rPr sz="2000" spc="-50" dirty="0">
                <a:latin typeface="宋体" panose="02010600030101010101" pitchFamily="2" charset="-122"/>
                <a:cs typeface="宋体" panose="02010600030101010101" pitchFamily="2" charset="-122"/>
              </a:rPr>
              <a:t>普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通管</a:t>
            </a:r>
            <a:r>
              <a:rPr sz="2000" spc="-50" dirty="0">
                <a:latin typeface="宋体" panose="02010600030101010101" pitchFamily="2" charset="-122"/>
                <a:cs typeface="宋体" panose="02010600030101010101" pitchFamily="2" charset="-122"/>
              </a:rPr>
              <a:t>理</a:t>
            </a:r>
            <a:r>
              <a:rPr sz="2000" spc="20" dirty="0">
                <a:latin typeface="宋体" panose="02010600030101010101" pitchFamily="2" charset="-122"/>
                <a:cs typeface="宋体" panose="02010600030101010101" pitchFamily="2" charset="-122"/>
              </a:rPr>
              <a:t>员用 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户只</a:t>
            </a:r>
            <a:r>
              <a:rPr sz="2000" spc="15" dirty="0">
                <a:latin typeface="宋体" panose="02010600030101010101" pitchFamily="2" charset="-122"/>
                <a:cs typeface="宋体" panose="02010600030101010101" pitchFamily="2" charset="-122"/>
              </a:rPr>
              <a:t>能</a:t>
            </a:r>
            <a:r>
              <a:rPr sz="2000" spc="-55" dirty="0">
                <a:latin typeface="宋体" panose="02010600030101010101" pitchFamily="2" charset="-122"/>
                <a:cs typeface="宋体" panose="02010600030101010101" pitchFamily="2" charset="-122"/>
              </a:rPr>
              <a:t>对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图书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进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货、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销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售等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信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息进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行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管理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只能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查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询和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修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改自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己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的 用户</a:t>
            </a:r>
            <a:r>
              <a:rPr sz="2000" spc="15" dirty="0">
                <a:latin typeface="宋体" panose="02010600030101010101" pitchFamily="2" charset="-122"/>
                <a:cs typeface="宋体" panose="02010600030101010101" pitchFamily="2" charset="-122"/>
              </a:rPr>
              <a:t>信</a:t>
            </a:r>
            <a:r>
              <a:rPr sz="2000" spc="-55" dirty="0">
                <a:latin typeface="宋体" panose="02010600030101010101" pitchFamily="2" charset="-122"/>
                <a:cs typeface="宋体" panose="02010600030101010101" pitchFamily="2" charset="-122"/>
              </a:rPr>
              <a:t>息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；而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超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级管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理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员除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了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可以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对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图书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进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货、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销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售等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信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息进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行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管 理，</a:t>
            </a:r>
            <a:r>
              <a:rPr sz="2000" spc="15" dirty="0">
                <a:latin typeface="宋体" panose="02010600030101010101" pitchFamily="2" charset="-122"/>
                <a:cs typeface="宋体" panose="02010600030101010101" pitchFamily="2" charset="-122"/>
              </a:rPr>
              <a:t>还</a:t>
            </a:r>
            <a:r>
              <a:rPr sz="2000" spc="-55" dirty="0">
                <a:latin typeface="宋体" panose="02010600030101010101" pitchFamily="2" charset="-122"/>
                <a:cs typeface="宋体" panose="02010600030101010101" pitchFamily="2" charset="-122"/>
              </a:rPr>
              <a:t>能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创建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新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的用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户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和查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看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所有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用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户的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资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料。</a:t>
            </a:r>
            <a:endParaRPr sz="2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835660" marR="252730" indent="-276860">
              <a:lnSpc>
                <a:spcPct val="100000"/>
              </a:lnSpc>
              <a:spcBef>
                <a:spcPts val="450"/>
              </a:spcBef>
              <a:tabLst>
                <a:tab pos="835660" algn="l"/>
              </a:tabLst>
            </a:pPr>
            <a:r>
              <a:rPr sz="1500" dirty="0">
                <a:solidFill>
                  <a:srgbClr val="51848E"/>
                </a:solidFill>
                <a:latin typeface="Wingdings 3" panose="05040102010807070707"/>
                <a:cs typeface="Wingdings 3" panose="05040102010807070707"/>
              </a:rPr>
              <a:t></a:t>
            </a:r>
            <a:r>
              <a:rPr sz="1500" dirty="0">
                <a:solidFill>
                  <a:srgbClr val="51848E"/>
                </a:solidFill>
              </a:rPr>
              <a:t>	</a:t>
            </a:r>
            <a:r>
              <a:rPr sz="2000" spc="-30" dirty="0"/>
              <a:t>2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）超级管理</a:t>
            </a:r>
            <a:r>
              <a:rPr sz="2000" spc="-50" dirty="0">
                <a:latin typeface="宋体" panose="02010600030101010101" pitchFamily="2" charset="-122"/>
                <a:cs typeface="宋体" panose="02010600030101010101" pitchFamily="2" charset="-122"/>
              </a:rPr>
              <a:t>员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用户</a:t>
            </a:r>
            <a:r>
              <a:rPr sz="2000" spc="-50" dirty="0">
                <a:latin typeface="宋体" panose="02010600030101010101" pitchFamily="2" charset="-122"/>
                <a:cs typeface="宋体" panose="02010600030101010101" pitchFamily="2" charset="-122"/>
              </a:rPr>
              <a:t>在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系统</a:t>
            </a:r>
            <a:r>
              <a:rPr sz="2000" spc="-50" dirty="0">
                <a:latin typeface="宋体" panose="02010600030101010101" pitchFamily="2" charset="-122"/>
                <a:cs typeface="宋体" panose="02010600030101010101" pitchFamily="2" charset="-122"/>
              </a:rPr>
              <a:t>完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成时</a:t>
            </a:r>
            <a:r>
              <a:rPr sz="2000" spc="-50" dirty="0">
                <a:latin typeface="宋体" panose="02010600030101010101" pitchFamily="2" charset="-122"/>
                <a:cs typeface="宋体" panose="02010600030101010101" pitchFamily="2" charset="-122"/>
              </a:rPr>
              <a:t>便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已经</a:t>
            </a:r>
            <a:r>
              <a:rPr sz="2000" spc="-50" dirty="0">
                <a:latin typeface="宋体" panose="02010600030101010101" pitchFamily="2" charset="-122"/>
                <a:cs typeface="宋体" panose="02010600030101010101" pitchFamily="2" charset="-122"/>
              </a:rPr>
              <a:t>存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在（</a:t>
            </a:r>
            <a:r>
              <a:rPr sz="2000" spc="-50" dirty="0">
                <a:latin typeface="宋体" panose="02010600030101010101" pitchFamily="2" charset="-122"/>
                <a:cs typeface="宋体" panose="02010600030101010101" pitchFamily="2" charset="-122"/>
              </a:rPr>
              <a:t>即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其用</a:t>
            </a:r>
            <a:r>
              <a:rPr sz="2000" spc="-50" dirty="0">
                <a:latin typeface="宋体" panose="02010600030101010101" pitchFamily="2" charset="-122"/>
                <a:cs typeface="宋体" panose="02010600030101010101" pitchFamily="2" charset="-122"/>
              </a:rPr>
              <a:t>户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名和</a:t>
            </a:r>
            <a:r>
              <a:rPr sz="2000" spc="-50" dirty="0">
                <a:latin typeface="宋体" panose="02010600030101010101" pitchFamily="2" charset="-122"/>
                <a:cs typeface="宋体" panose="02010600030101010101" pitchFamily="2" charset="-122"/>
              </a:rPr>
              <a:t>密</a:t>
            </a:r>
            <a:r>
              <a:rPr sz="2000" spc="20" dirty="0">
                <a:latin typeface="宋体" panose="02010600030101010101" pitchFamily="2" charset="-122"/>
                <a:cs typeface="宋体" panose="02010600030101010101" pitchFamily="2" charset="-122"/>
              </a:rPr>
              <a:t>码已 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经存</a:t>
            </a:r>
            <a:r>
              <a:rPr sz="2000" spc="15" dirty="0">
                <a:latin typeface="宋体" panose="02010600030101010101" pitchFamily="2" charset="-122"/>
                <a:cs typeface="宋体" panose="02010600030101010101" pitchFamily="2" charset="-122"/>
              </a:rPr>
              <a:t>在</a:t>
            </a:r>
            <a:r>
              <a:rPr sz="2000" spc="-55" dirty="0">
                <a:latin typeface="宋体" panose="02010600030101010101" pitchFamily="2" charset="-122"/>
                <a:cs typeface="宋体" panose="02010600030101010101" pitchFamily="2" charset="-122"/>
              </a:rPr>
              <a:t>于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数据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库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中）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而普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通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管理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员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用户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用户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名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和密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码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需要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由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超 级管</a:t>
            </a:r>
            <a:r>
              <a:rPr sz="2000" spc="15" dirty="0">
                <a:latin typeface="宋体" panose="02010600030101010101" pitchFamily="2" charset="-122"/>
                <a:cs typeface="宋体" panose="02010600030101010101" pitchFamily="2" charset="-122"/>
              </a:rPr>
              <a:t>理</a:t>
            </a:r>
            <a:r>
              <a:rPr sz="2000" spc="-55" dirty="0">
                <a:latin typeface="宋体" panose="02010600030101010101" pitchFamily="2" charset="-122"/>
                <a:cs typeface="宋体" panose="02010600030101010101" pitchFamily="2" charset="-122"/>
              </a:rPr>
              <a:t>员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用户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来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创建。</a:t>
            </a:r>
            <a:endParaRPr sz="2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558800">
              <a:lnSpc>
                <a:spcPct val="100000"/>
              </a:lnSpc>
              <a:spcBef>
                <a:spcPts val="530"/>
              </a:spcBef>
              <a:tabLst>
                <a:tab pos="835660" algn="l"/>
              </a:tabLst>
            </a:pPr>
            <a:r>
              <a:rPr sz="1500" dirty="0">
                <a:solidFill>
                  <a:srgbClr val="51848E"/>
                </a:solidFill>
                <a:latin typeface="Wingdings 3" panose="05040102010807070707"/>
                <a:cs typeface="Wingdings 3" panose="05040102010807070707"/>
              </a:rPr>
              <a:t></a:t>
            </a:r>
            <a:r>
              <a:rPr sz="1500" dirty="0">
                <a:solidFill>
                  <a:srgbClr val="51848E"/>
                </a:solidFill>
              </a:rPr>
              <a:t>	</a:t>
            </a:r>
            <a:r>
              <a:rPr sz="2000" dirty="0"/>
              <a:t>3</a:t>
            </a:r>
            <a:r>
              <a:rPr sz="2000" dirty="0">
                <a:latin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sz="2000" spc="30" dirty="0">
                <a:latin typeface="宋体" panose="02010600030101010101" pitchFamily="2" charset="-122"/>
                <a:cs typeface="宋体" panose="02010600030101010101" pitchFamily="2" charset="-122"/>
              </a:rPr>
              <a:t>用</a:t>
            </a:r>
            <a:r>
              <a:rPr sz="2000" spc="20" dirty="0">
                <a:latin typeface="宋体" panose="02010600030101010101" pitchFamily="2" charset="-122"/>
                <a:cs typeface="宋体" panose="02010600030101010101" pitchFamily="2" charset="-122"/>
              </a:rPr>
              <a:t>户</a:t>
            </a:r>
            <a:r>
              <a:rPr sz="2000" spc="30" dirty="0">
                <a:latin typeface="宋体" panose="02010600030101010101" pitchFamily="2" charset="-122"/>
                <a:cs typeface="宋体" panose="02010600030101010101" pitchFamily="2" charset="-122"/>
              </a:rPr>
              <a:t>的密</a:t>
            </a:r>
            <a:r>
              <a:rPr sz="2000" spc="-55" dirty="0">
                <a:latin typeface="宋体" panose="02010600030101010101" pitchFamily="2" charset="-122"/>
                <a:cs typeface="宋体" panose="02010600030101010101" pitchFamily="2" charset="-122"/>
              </a:rPr>
              <a:t>码</a:t>
            </a:r>
            <a:r>
              <a:rPr sz="2000" spc="30" dirty="0">
                <a:latin typeface="宋体" panose="02010600030101010101" pitchFamily="2" charset="-122"/>
                <a:cs typeface="宋体" panose="02010600030101010101" pitchFamily="2" charset="-122"/>
              </a:rPr>
              <a:t>不能</a:t>
            </a:r>
            <a:r>
              <a:rPr sz="2000" spc="-55" dirty="0">
                <a:latin typeface="宋体" panose="02010600030101010101" pitchFamily="2" charset="-122"/>
                <a:cs typeface="宋体" panose="02010600030101010101" pitchFamily="2" charset="-122"/>
              </a:rPr>
              <a:t>以</a:t>
            </a:r>
            <a:r>
              <a:rPr sz="2000" spc="30" dirty="0">
                <a:latin typeface="宋体" panose="02010600030101010101" pitchFamily="2" charset="-122"/>
                <a:cs typeface="宋体" panose="02010600030101010101" pitchFamily="2" charset="-122"/>
              </a:rPr>
              <a:t>明文</a:t>
            </a:r>
            <a:r>
              <a:rPr sz="2000" spc="-55" dirty="0">
                <a:latin typeface="宋体" panose="02010600030101010101" pitchFamily="2" charset="-122"/>
                <a:cs typeface="宋体" panose="02010600030101010101" pitchFamily="2" charset="-122"/>
              </a:rPr>
              <a:t>形</a:t>
            </a:r>
            <a:r>
              <a:rPr sz="2000" spc="30" dirty="0">
                <a:latin typeface="宋体" panose="02010600030101010101" pitchFamily="2" charset="-122"/>
                <a:cs typeface="宋体" panose="02010600030101010101" pitchFamily="2" charset="-122"/>
              </a:rPr>
              <a:t>式保</a:t>
            </a:r>
            <a:r>
              <a:rPr sz="2000" spc="-55" dirty="0">
                <a:latin typeface="宋体" panose="02010600030101010101" pitchFamily="2" charset="-122"/>
                <a:cs typeface="宋体" panose="02010600030101010101" pitchFamily="2" charset="-122"/>
              </a:rPr>
              <a:t>存</a:t>
            </a:r>
            <a:r>
              <a:rPr sz="2000" spc="30" dirty="0">
                <a:latin typeface="宋体" panose="02010600030101010101" pitchFamily="2" charset="-122"/>
                <a:cs typeface="宋体" panose="02010600030101010101" pitchFamily="2" charset="-122"/>
              </a:rPr>
              <a:t>于数</a:t>
            </a:r>
            <a:r>
              <a:rPr sz="2000" spc="-55" dirty="0">
                <a:latin typeface="宋体" panose="02010600030101010101" pitchFamily="2" charset="-122"/>
                <a:cs typeface="宋体" panose="02010600030101010101" pitchFamily="2" charset="-122"/>
              </a:rPr>
              <a:t>据</a:t>
            </a:r>
            <a:r>
              <a:rPr sz="2000" spc="30" dirty="0">
                <a:latin typeface="宋体" panose="02010600030101010101" pitchFamily="2" charset="-122"/>
                <a:cs typeface="宋体" panose="02010600030101010101" pitchFamily="2" charset="-122"/>
              </a:rPr>
              <a:t>库中</a:t>
            </a:r>
            <a:r>
              <a:rPr sz="2000" spc="-55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2000" spc="30" dirty="0">
                <a:latin typeface="宋体" panose="02010600030101010101" pitchFamily="2" charset="-122"/>
                <a:cs typeface="宋体" panose="02010600030101010101" pitchFamily="2" charset="-122"/>
              </a:rPr>
              <a:t>而必</a:t>
            </a:r>
            <a:r>
              <a:rPr sz="2000" spc="-55" dirty="0">
                <a:latin typeface="宋体" panose="02010600030101010101" pitchFamily="2" charset="-122"/>
                <a:cs typeface="宋体" panose="02010600030101010101" pitchFamily="2" charset="-122"/>
              </a:rPr>
              <a:t>须</a:t>
            </a:r>
            <a:r>
              <a:rPr sz="2000" spc="30" dirty="0">
                <a:latin typeface="宋体" panose="02010600030101010101" pitchFamily="2" charset="-122"/>
                <a:cs typeface="宋体" panose="02010600030101010101" pitchFamily="2" charset="-122"/>
              </a:rPr>
              <a:t>先加</a:t>
            </a:r>
            <a:r>
              <a:rPr sz="2000" spc="-55" dirty="0">
                <a:latin typeface="宋体" panose="02010600030101010101" pitchFamily="2" charset="-122"/>
                <a:cs typeface="宋体" panose="02010600030101010101" pitchFamily="2" charset="-122"/>
              </a:rPr>
              <a:t>密</a:t>
            </a:r>
            <a:r>
              <a:rPr sz="2000" spc="30" dirty="0">
                <a:latin typeface="宋体" panose="02010600030101010101" pitchFamily="2" charset="-122"/>
                <a:cs typeface="宋体" panose="02010600030101010101" pitchFamily="2" charset="-122"/>
              </a:rPr>
              <a:t>，一</a:t>
            </a:r>
            <a:endParaRPr sz="2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835660">
              <a:lnSpc>
                <a:spcPct val="100000"/>
              </a:lnSpc>
              <a:spcBef>
                <a:spcPts val="5"/>
              </a:spcBef>
            </a:pPr>
            <a:r>
              <a:rPr sz="2000" spc="95" dirty="0">
                <a:latin typeface="宋体" panose="02010600030101010101" pitchFamily="2" charset="-122"/>
                <a:cs typeface="宋体" panose="02010600030101010101" pitchFamily="2" charset="-122"/>
              </a:rPr>
              <a:t>般采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用</a:t>
            </a:r>
            <a:r>
              <a:rPr sz="2000" spc="-10" dirty="0"/>
              <a:t>MD5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算法</a:t>
            </a:r>
            <a:r>
              <a:rPr sz="2000" spc="-50" dirty="0">
                <a:latin typeface="宋体" panose="02010600030101010101" pitchFamily="2" charset="-122"/>
                <a:cs typeface="宋体" panose="02010600030101010101" pitchFamily="2" charset="-122"/>
              </a:rPr>
              <a:t>进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行加</a:t>
            </a:r>
            <a:r>
              <a:rPr sz="2000" spc="-50" dirty="0">
                <a:latin typeface="宋体" panose="02010600030101010101" pitchFamily="2" charset="-122"/>
                <a:cs typeface="宋体" panose="02010600030101010101" pitchFamily="2" charset="-122"/>
              </a:rPr>
              <a:t>密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2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835660" marR="5080" indent="-276860">
              <a:lnSpc>
                <a:spcPct val="100000"/>
              </a:lnSpc>
              <a:spcBef>
                <a:spcPts val="525"/>
              </a:spcBef>
              <a:tabLst>
                <a:tab pos="835660" algn="l"/>
              </a:tabLst>
            </a:pPr>
            <a:r>
              <a:rPr sz="1500" dirty="0">
                <a:solidFill>
                  <a:srgbClr val="51848E"/>
                </a:solidFill>
                <a:latin typeface="Wingdings 3" panose="05040102010807070707"/>
                <a:cs typeface="Wingdings 3" panose="05040102010807070707"/>
              </a:rPr>
              <a:t></a:t>
            </a:r>
            <a:r>
              <a:rPr sz="1500" dirty="0">
                <a:solidFill>
                  <a:srgbClr val="51848E"/>
                </a:solidFill>
              </a:rPr>
              <a:t>	</a:t>
            </a:r>
            <a:r>
              <a:rPr sz="2000" spc="-30" dirty="0"/>
              <a:t>4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）每位用</a:t>
            </a:r>
            <a:r>
              <a:rPr sz="2000" spc="-50" dirty="0">
                <a:latin typeface="宋体" panose="02010600030101010101" pitchFamily="2" charset="-122"/>
                <a:cs typeface="宋体" panose="02010600030101010101" pitchFamily="2" charset="-122"/>
              </a:rPr>
              <a:t>户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除了</a:t>
            </a:r>
            <a:r>
              <a:rPr sz="2000" spc="-50" dirty="0">
                <a:latin typeface="宋体" panose="02010600030101010101" pitchFamily="2" charset="-122"/>
                <a:cs typeface="宋体" panose="02010600030101010101" pitchFamily="2" charset="-122"/>
              </a:rPr>
              <a:t>用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户名</a:t>
            </a:r>
            <a:r>
              <a:rPr sz="2000" spc="-50" dirty="0">
                <a:latin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密码</a:t>
            </a:r>
            <a:r>
              <a:rPr sz="2000" spc="-50" dirty="0">
                <a:latin typeface="宋体" panose="02010600030101010101" pitchFamily="2" charset="-122"/>
                <a:cs typeface="宋体" panose="02010600030101010101" pitchFamily="2" charset="-122"/>
              </a:rPr>
              <a:t>信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息外</a:t>
            </a:r>
            <a:r>
              <a:rPr sz="2000" spc="-50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还有</a:t>
            </a:r>
            <a:r>
              <a:rPr sz="2000" spc="-50" dirty="0">
                <a:latin typeface="宋体" panose="02010600030101010101" pitchFamily="2" charset="-122"/>
                <a:cs typeface="宋体" panose="02010600030101010101" pitchFamily="2" charset="-122"/>
              </a:rPr>
              <a:t>真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实姓</a:t>
            </a:r>
            <a:r>
              <a:rPr sz="2000" spc="-50" dirty="0">
                <a:latin typeface="宋体" panose="02010600030101010101" pitchFamily="2" charset="-122"/>
                <a:cs typeface="宋体" panose="02010600030101010101" pitchFamily="2" charset="-122"/>
              </a:rPr>
              <a:t>名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，工</a:t>
            </a:r>
            <a:r>
              <a:rPr sz="2000" spc="-50" dirty="0">
                <a:latin typeface="宋体" panose="02010600030101010101" pitchFamily="2" charset="-122"/>
                <a:cs typeface="宋体" panose="02010600030101010101" pitchFamily="2" charset="-122"/>
              </a:rPr>
              <a:t>号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，性</a:t>
            </a:r>
            <a:r>
              <a:rPr sz="2000" spc="-50" dirty="0">
                <a:latin typeface="宋体" panose="02010600030101010101" pitchFamily="2" charset="-122"/>
                <a:cs typeface="宋体" panose="02010600030101010101" pitchFamily="2" charset="-122"/>
              </a:rPr>
              <a:t>别</a:t>
            </a:r>
            <a:r>
              <a:rPr sz="2000" spc="20" dirty="0">
                <a:latin typeface="宋体" panose="02010600030101010101" pitchFamily="2" charset="-122"/>
                <a:cs typeface="宋体" panose="02010600030101010101" pitchFamily="2" charset="-122"/>
              </a:rPr>
              <a:t>， 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年龄</a:t>
            </a:r>
            <a:r>
              <a:rPr sz="2000" spc="15" dirty="0">
                <a:latin typeface="宋体" panose="02010600030101010101" pitchFamily="2" charset="-122"/>
                <a:cs typeface="宋体" panose="02010600030101010101" pitchFamily="2" charset="-122"/>
              </a:rPr>
              <a:t>等</a:t>
            </a:r>
            <a:r>
              <a:rPr sz="2000" spc="-55" dirty="0">
                <a:latin typeface="宋体" panose="02010600030101010101" pitchFamily="2" charset="-122"/>
                <a:cs typeface="宋体" panose="02010600030101010101" pitchFamily="2" charset="-122"/>
              </a:rPr>
              <a:t>基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本信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息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2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558800">
              <a:lnSpc>
                <a:spcPct val="100000"/>
              </a:lnSpc>
              <a:spcBef>
                <a:spcPts val="460"/>
              </a:spcBef>
              <a:tabLst>
                <a:tab pos="835660" algn="l"/>
              </a:tabLst>
            </a:pPr>
            <a:r>
              <a:rPr sz="1500" dirty="0">
                <a:solidFill>
                  <a:srgbClr val="51848E"/>
                </a:solidFill>
                <a:latin typeface="Wingdings 3" panose="05040102010807070707"/>
                <a:cs typeface="Wingdings 3" panose="05040102010807070707"/>
              </a:rPr>
              <a:t></a:t>
            </a:r>
            <a:r>
              <a:rPr sz="1500" dirty="0">
                <a:solidFill>
                  <a:srgbClr val="51848E"/>
                </a:solidFill>
              </a:rPr>
              <a:t>	</a:t>
            </a:r>
            <a:r>
              <a:rPr sz="2000" spc="70" dirty="0"/>
              <a:t>5</a:t>
            </a:r>
            <a:r>
              <a:rPr sz="2000" spc="70" dirty="0">
                <a:latin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系统所有</a:t>
            </a:r>
            <a:r>
              <a:rPr sz="2000" spc="-50" dirty="0">
                <a:latin typeface="宋体" panose="02010600030101010101" pitchFamily="2" charset="-122"/>
                <a:cs typeface="宋体" panose="02010600030101010101" pitchFamily="2" charset="-122"/>
              </a:rPr>
              <a:t>功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能只</a:t>
            </a:r>
            <a:r>
              <a:rPr sz="2000" spc="-50" dirty="0">
                <a:latin typeface="宋体" panose="02010600030101010101" pitchFamily="2" charset="-122"/>
                <a:cs typeface="宋体" panose="02010600030101010101" pitchFamily="2" charset="-122"/>
              </a:rPr>
              <a:t>有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用户</a:t>
            </a:r>
            <a:r>
              <a:rPr sz="2000" spc="-50" dirty="0">
                <a:latin typeface="宋体" panose="02010600030101010101" pitchFamily="2" charset="-122"/>
                <a:cs typeface="宋体" panose="02010600030101010101" pitchFamily="2" charset="-122"/>
              </a:rPr>
              <a:t>登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录了</a:t>
            </a:r>
            <a:r>
              <a:rPr sz="2000" spc="-50" dirty="0">
                <a:latin typeface="宋体" panose="02010600030101010101" pitchFamily="2" charset="-122"/>
                <a:cs typeface="宋体" panose="02010600030101010101" pitchFamily="2" charset="-122"/>
              </a:rPr>
              <a:t>才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能进</a:t>
            </a:r>
            <a:r>
              <a:rPr sz="2000" spc="-50" dirty="0">
                <a:latin typeface="宋体" panose="02010600030101010101" pitchFamily="2" charset="-122"/>
                <a:cs typeface="宋体" panose="02010600030101010101" pitchFamily="2" charset="-122"/>
              </a:rPr>
              <a:t>行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操作。</a:t>
            </a:r>
            <a:endParaRPr sz="2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490"/>
              </a:spcBef>
            </a:pPr>
            <a:fld id="{81D60167-4931-47E6-BA6A-407CBD079E47}" type="slidenum">
              <a:rPr spc="10" dirty="0"/>
              <a:t>3</a:t>
            </a:fld>
            <a:endParaRPr spc="1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74662" y="267017"/>
            <a:ext cx="2057400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spc="95" dirty="0">
                <a:solidFill>
                  <a:srgbClr val="000000"/>
                </a:solidFill>
              </a:rPr>
              <a:t>主</a:t>
            </a:r>
            <a:r>
              <a:rPr sz="3950" spc="30" dirty="0">
                <a:solidFill>
                  <a:srgbClr val="000000"/>
                </a:solidFill>
              </a:rPr>
              <a:t>要功能</a:t>
            </a:r>
            <a:endParaRPr sz="39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575" y="1169612"/>
            <a:ext cx="7987665" cy="3929379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  <a:tabLst>
                <a:tab pos="288925" algn="l"/>
              </a:tabLst>
            </a:pPr>
            <a:r>
              <a:rPr sz="2100" dirty="0">
                <a:solidFill>
                  <a:srgbClr val="4679B0"/>
                </a:solidFill>
                <a:latin typeface="Wingdings 3" panose="05040102010807070707"/>
                <a:cs typeface="Wingdings 3" panose="05040102010807070707"/>
              </a:rPr>
              <a:t></a:t>
            </a:r>
            <a:r>
              <a:rPr sz="2100" dirty="0">
                <a:solidFill>
                  <a:srgbClr val="4679B0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750" spc="25" dirty="0">
                <a:latin typeface="Times New Roman" panose="02020603050405020304"/>
                <a:cs typeface="Times New Roman" panose="02020603050405020304"/>
              </a:rPr>
              <a:t>2.</a:t>
            </a:r>
            <a:r>
              <a:rPr sz="275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spc="100" dirty="0">
                <a:latin typeface="宋体" panose="02010600030101010101" pitchFamily="2" charset="-122"/>
                <a:cs typeface="宋体" panose="02010600030101010101" pitchFamily="2" charset="-122"/>
              </a:rPr>
              <a:t>库存书籍管理</a:t>
            </a:r>
            <a:endParaRPr sz="27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565785" marR="5080" indent="-276860" algn="just">
              <a:lnSpc>
                <a:spcPct val="99000"/>
              </a:lnSpc>
              <a:spcBef>
                <a:spcPts val="610"/>
              </a:spcBef>
            </a:pPr>
            <a:r>
              <a:rPr sz="1800" dirty="0">
                <a:solidFill>
                  <a:srgbClr val="51848E"/>
                </a:solidFill>
                <a:latin typeface="Wingdings 3" panose="05040102010807070707"/>
                <a:cs typeface="Wingdings 3" panose="05040102010807070707"/>
              </a:rPr>
              <a:t></a:t>
            </a:r>
            <a:r>
              <a:rPr sz="1800" spc="295" dirty="0">
                <a:solidFill>
                  <a:srgbClr val="51848E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latin typeface="宋体" panose="02010600030101010101" pitchFamily="2" charset="-122"/>
                <a:cs typeface="宋体" panose="02010600030101010101" pitchFamily="2" charset="-122"/>
              </a:rPr>
              <a:t>系统中需要维护整个书城目前库存的所有书籍信息，包 括书籍</a:t>
            </a:r>
            <a:r>
              <a:rPr sz="2400" spc="20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400" spc="10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2400" spc="-30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2400" spc="-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400" dirty="0">
                <a:latin typeface="宋体" panose="02010600030101010101" pitchFamily="2" charset="-122"/>
                <a:cs typeface="宋体" panose="02010600030101010101" pitchFamily="2" charset="-122"/>
              </a:rPr>
              <a:t>号，书籍名称，出版社，作者，零售价格， 当前库存数量等。</a:t>
            </a:r>
            <a:endParaRPr sz="24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  <a:tabLst>
                <a:tab pos="288925" algn="l"/>
              </a:tabLst>
            </a:pPr>
            <a:r>
              <a:rPr sz="2100" dirty="0">
                <a:solidFill>
                  <a:srgbClr val="4679B0"/>
                </a:solidFill>
                <a:latin typeface="Wingdings 3" panose="05040102010807070707"/>
                <a:cs typeface="Wingdings 3" panose="05040102010807070707"/>
              </a:rPr>
              <a:t></a:t>
            </a:r>
            <a:r>
              <a:rPr sz="2100" dirty="0">
                <a:solidFill>
                  <a:srgbClr val="4679B0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750" spc="25" dirty="0">
                <a:latin typeface="Times New Roman" panose="02020603050405020304"/>
                <a:cs typeface="Times New Roman" panose="02020603050405020304"/>
              </a:rPr>
              <a:t>3.</a:t>
            </a:r>
            <a:r>
              <a:rPr sz="275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spc="100" dirty="0">
                <a:latin typeface="宋体" panose="02010600030101010101" pitchFamily="2" charset="-122"/>
                <a:cs typeface="宋体" panose="02010600030101010101" pitchFamily="2" charset="-122"/>
              </a:rPr>
              <a:t>书籍查询</a:t>
            </a:r>
            <a:endParaRPr sz="27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565785" marR="5080" indent="-276860" algn="just">
              <a:lnSpc>
                <a:spcPct val="102000"/>
              </a:lnSpc>
              <a:spcBef>
                <a:spcPts val="455"/>
              </a:spcBef>
            </a:pPr>
            <a:r>
              <a:rPr sz="1800" dirty="0">
                <a:solidFill>
                  <a:srgbClr val="51848E"/>
                </a:solidFill>
                <a:latin typeface="Wingdings 3" panose="05040102010807070707"/>
                <a:cs typeface="Wingdings 3" panose="05040102010807070707"/>
              </a:rPr>
              <a:t></a:t>
            </a:r>
            <a:r>
              <a:rPr sz="1800" spc="275" dirty="0">
                <a:solidFill>
                  <a:srgbClr val="51848E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latin typeface="宋体" panose="02010600030101010101" pitchFamily="2" charset="-122"/>
                <a:cs typeface="宋体" panose="02010600030101010101" pitchFamily="2" charset="-122"/>
              </a:rPr>
              <a:t>可以使用书籍编号、书籍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ISBN</a:t>
            </a:r>
            <a:r>
              <a:rPr sz="2400" dirty="0">
                <a:latin typeface="宋体" panose="02010600030101010101" pitchFamily="2" charset="-122"/>
                <a:cs typeface="宋体" panose="02010600030101010101" pitchFamily="2" charset="-122"/>
              </a:rPr>
              <a:t>号、书名、作者、出版社 等方式查询库存的相关书籍。</a:t>
            </a:r>
            <a:endParaRPr sz="24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  <a:tabLst>
                <a:tab pos="288925" algn="l"/>
              </a:tabLst>
            </a:pPr>
            <a:r>
              <a:rPr sz="2100" dirty="0">
                <a:solidFill>
                  <a:srgbClr val="4679B0"/>
                </a:solidFill>
                <a:latin typeface="Wingdings 3" panose="05040102010807070707"/>
                <a:cs typeface="Wingdings 3" panose="05040102010807070707"/>
              </a:rPr>
              <a:t></a:t>
            </a:r>
            <a:r>
              <a:rPr sz="2100" dirty="0">
                <a:solidFill>
                  <a:srgbClr val="4679B0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750" spc="25" dirty="0">
                <a:latin typeface="Times New Roman" panose="02020603050405020304"/>
                <a:cs typeface="Times New Roman" panose="02020603050405020304"/>
              </a:rPr>
              <a:t>4.</a:t>
            </a:r>
            <a:r>
              <a:rPr sz="275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spc="100" dirty="0">
                <a:latin typeface="宋体" panose="02010600030101010101" pitchFamily="2" charset="-122"/>
                <a:cs typeface="宋体" panose="02010600030101010101" pitchFamily="2" charset="-122"/>
              </a:rPr>
              <a:t>图书信息修改</a:t>
            </a:r>
            <a:endParaRPr sz="27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88925">
              <a:lnSpc>
                <a:spcPct val="100000"/>
              </a:lnSpc>
              <a:spcBef>
                <a:spcPts val="580"/>
              </a:spcBef>
              <a:tabLst>
                <a:tab pos="565150" algn="l"/>
              </a:tabLst>
            </a:pPr>
            <a:r>
              <a:rPr sz="1800" dirty="0">
                <a:solidFill>
                  <a:srgbClr val="51848E"/>
                </a:solidFill>
                <a:latin typeface="Wingdings 3" panose="05040102010807070707"/>
                <a:cs typeface="Wingdings 3" panose="05040102010807070707"/>
              </a:rPr>
              <a:t></a:t>
            </a:r>
            <a:r>
              <a:rPr sz="1800" dirty="0">
                <a:solidFill>
                  <a:srgbClr val="51848E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dirty="0">
                <a:latin typeface="宋体" panose="02010600030101010101" pitchFamily="2" charset="-122"/>
                <a:cs typeface="宋体" panose="02010600030101010101" pitchFamily="2" charset="-122"/>
              </a:rPr>
              <a:t>可以修改书籍名称、作者、出版社、零售价格等信息。</a:t>
            </a:r>
            <a:endParaRPr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490"/>
              </a:spcBef>
            </a:pPr>
            <a:fld id="{81D60167-4931-47E6-BA6A-407CBD079E47}" type="slidenum">
              <a:rPr spc="10" dirty="0"/>
              <a:t>4</a:t>
            </a:fld>
            <a:endParaRPr spc="1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74662" y="267017"/>
            <a:ext cx="2057400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spc="95" dirty="0">
                <a:solidFill>
                  <a:srgbClr val="000000"/>
                </a:solidFill>
              </a:rPr>
              <a:t>主</a:t>
            </a:r>
            <a:r>
              <a:rPr sz="3950" spc="30" dirty="0">
                <a:solidFill>
                  <a:srgbClr val="000000"/>
                </a:solidFill>
              </a:rPr>
              <a:t>要功能</a:t>
            </a:r>
            <a:endParaRPr sz="39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575" y="1169612"/>
            <a:ext cx="8206740" cy="5026025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  <a:tabLst>
                <a:tab pos="288925" algn="l"/>
              </a:tabLst>
            </a:pPr>
            <a:r>
              <a:rPr sz="2100" dirty="0">
                <a:solidFill>
                  <a:srgbClr val="4679B0"/>
                </a:solidFill>
                <a:latin typeface="Wingdings 3" panose="05040102010807070707"/>
                <a:cs typeface="Wingdings 3" panose="05040102010807070707"/>
              </a:rPr>
              <a:t></a:t>
            </a:r>
            <a:r>
              <a:rPr sz="2100" dirty="0">
                <a:solidFill>
                  <a:srgbClr val="4679B0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750" spc="25" dirty="0">
                <a:latin typeface="Times New Roman" panose="02020603050405020304"/>
                <a:cs typeface="Times New Roman" panose="02020603050405020304"/>
              </a:rPr>
              <a:t>5.</a:t>
            </a:r>
            <a:r>
              <a:rPr sz="275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spc="100" dirty="0">
                <a:latin typeface="宋体" panose="02010600030101010101" pitchFamily="2" charset="-122"/>
                <a:cs typeface="宋体" panose="02010600030101010101" pitchFamily="2" charset="-122"/>
              </a:rPr>
              <a:t>图书进货：</a:t>
            </a:r>
            <a:endParaRPr sz="27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565785" marR="5080" indent="-276860">
              <a:lnSpc>
                <a:spcPct val="99000"/>
              </a:lnSpc>
              <a:spcBef>
                <a:spcPts val="610"/>
              </a:spcBef>
              <a:tabLst>
                <a:tab pos="565150" algn="l"/>
              </a:tabLst>
            </a:pPr>
            <a:r>
              <a:rPr sz="1800" dirty="0">
                <a:solidFill>
                  <a:srgbClr val="51848E"/>
                </a:solidFill>
                <a:latin typeface="Wingdings 3" panose="05040102010807070707"/>
                <a:cs typeface="Wingdings 3" panose="05040102010807070707"/>
              </a:rPr>
              <a:t></a:t>
            </a:r>
            <a:r>
              <a:rPr sz="1800" dirty="0">
                <a:solidFill>
                  <a:srgbClr val="51848E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dirty="0">
                <a:latin typeface="宋体" panose="02010600030101010101" pitchFamily="2" charset="-122"/>
                <a:cs typeface="宋体" panose="02010600030101010101" pitchFamily="2" charset="-122"/>
              </a:rPr>
              <a:t>对于需要进货的书籍，如果库存中曾经有这本书的信息 的话，则直接将这本书的</a:t>
            </a:r>
            <a:r>
              <a:rPr sz="2400" spc="5" dirty="0">
                <a:latin typeface="Times New Roman" panose="02020603050405020304"/>
                <a:cs typeface="Times New Roman" panose="02020603050405020304"/>
              </a:rPr>
              <a:t>ID</a:t>
            </a:r>
            <a:r>
              <a:rPr sz="2400" dirty="0">
                <a:latin typeface="宋体" panose="02010600030101010101" pitchFamily="2" charset="-122"/>
                <a:cs typeface="宋体" panose="02010600030101010101" pitchFamily="2" charset="-122"/>
              </a:rPr>
              <a:t>列入进货清单，否则需要输 入进货书籍的相关信息，包括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ISBN</a:t>
            </a:r>
            <a:r>
              <a:rPr sz="2400" dirty="0">
                <a:latin typeface="宋体" panose="02010600030101010101" pitchFamily="2" charset="-122"/>
                <a:cs typeface="宋体" panose="02010600030101010101" pitchFamily="2" charset="-122"/>
              </a:rPr>
              <a:t>号，书名，作者，出 版社等。此外，每种书都要指定其进货价格和购买数量。 对于刚列入进货清单的书籍给予未付款状态。</a:t>
            </a:r>
            <a:endParaRPr sz="24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  <a:tabLst>
                <a:tab pos="288925" algn="l"/>
              </a:tabLst>
            </a:pPr>
            <a:r>
              <a:rPr sz="2100" dirty="0">
                <a:solidFill>
                  <a:srgbClr val="4679B0"/>
                </a:solidFill>
                <a:latin typeface="Wingdings 3" panose="05040102010807070707"/>
                <a:cs typeface="Wingdings 3" panose="05040102010807070707"/>
              </a:rPr>
              <a:t></a:t>
            </a:r>
            <a:r>
              <a:rPr sz="2100" dirty="0">
                <a:solidFill>
                  <a:srgbClr val="4679B0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750" spc="25" dirty="0">
                <a:latin typeface="Times New Roman" panose="02020603050405020304"/>
                <a:cs typeface="Times New Roman" panose="02020603050405020304"/>
              </a:rPr>
              <a:t>6.</a:t>
            </a:r>
            <a:r>
              <a:rPr sz="275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spc="100" dirty="0">
                <a:latin typeface="宋体" panose="02010600030101010101" pitchFamily="2" charset="-122"/>
                <a:cs typeface="宋体" panose="02010600030101010101" pitchFamily="2" charset="-122"/>
              </a:rPr>
              <a:t>进货付款：</a:t>
            </a:r>
            <a:endParaRPr sz="27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88925">
              <a:lnSpc>
                <a:spcPts val="2830"/>
              </a:lnSpc>
              <a:spcBef>
                <a:spcPts val="660"/>
              </a:spcBef>
              <a:tabLst>
                <a:tab pos="565150" algn="l"/>
              </a:tabLst>
            </a:pPr>
            <a:r>
              <a:rPr sz="1800" dirty="0">
                <a:solidFill>
                  <a:srgbClr val="51848E"/>
                </a:solidFill>
                <a:latin typeface="Wingdings 3" panose="05040102010807070707"/>
                <a:cs typeface="Wingdings 3" panose="05040102010807070707"/>
              </a:rPr>
              <a:t></a:t>
            </a:r>
            <a:r>
              <a:rPr sz="1800" dirty="0">
                <a:solidFill>
                  <a:srgbClr val="51848E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dirty="0">
                <a:latin typeface="宋体" panose="02010600030101010101" pitchFamily="2" charset="-122"/>
                <a:cs typeface="宋体" panose="02010600030101010101" pitchFamily="2" charset="-122"/>
              </a:rPr>
              <a:t>查询正在进货的书籍，并给予付款，付款后书籍状态为</a:t>
            </a:r>
            <a:endParaRPr sz="24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565785">
              <a:lnSpc>
                <a:spcPts val="2830"/>
              </a:lnSpc>
            </a:pPr>
            <a:r>
              <a:rPr sz="2400" dirty="0">
                <a:latin typeface="宋体" panose="02010600030101010101" pitchFamily="2" charset="-122"/>
                <a:cs typeface="宋体" panose="02010600030101010101" pitchFamily="2" charset="-122"/>
              </a:rPr>
              <a:t>已付款。</a:t>
            </a:r>
            <a:endParaRPr sz="24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  <a:tabLst>
                <a:tab pos="288925" algn="l"/>
              </a:tabLst>
            </a:pPr>
            <a:r>
              <a:rPr sz="2100" dirty="0">
                <a:solidFill>
                  <a:srgbClr val="4679B0"/>
                </a:solidFill>
                <a:latin typeface="Wingdings 3" panose="05040102010807070707"/>
                <a:cs typeface="Wingdings 3" panose="05040102010807070707"/>
              </a:rPr>
              <a:t></a:t>
            </a:r>
            <a:r>
              <a:rPr sz="2100" dirty="0">
                <a:solidFill>
                  <a:srgbClr val="4679B0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750" spc="25" dirty="0">
                <a:latin typeface="Times New Roman" panose="02020603050405020304"/>
                <a:cs typeface="Times New Roman" panose="02020603050405020304"/>
              </a:rPr>
              <a:t>7.</a:t>
            </a:r>
            <a:r>
              <a:rPr sz="275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spc="100" dirty="0">
                <a:latin typeface="宋体" panose="02010600030101010101" pitchFamily="2" charset="-122"/>
                <a:cs typeface="宋体" panose="02010600030101010101" pitchFamily="2" charset="-122"/>
              </a:rPr>
              <a:t>图书退货：</a:t>
            </a:r>
            <a:endParaRPr sz="27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565785" marR="309880" indent="-276860">
              <a:lnSpc>
                <a:spcPts val="2780"/>
              </a:lnSpc>
              <a:spcBef>
                <a:spcPts val="830"/>
              </a:spcBef>
              <a:tabLst>
                <a:tab pos="565150" algn="l"/>
              </a:tabLst>
            </a:pPr>
            <a:r>
              <a:rPr sz="1800" dirty="0">
                <a:solidFill>
                  <a:srgbClr val="51848E"/>
                </a:solidFill>
                <a:latin typeface="Wingdings 3" panose="05040102010807070707"/>
                <a:cs typeface="Wingdings 3" panose="05040102010807070707"/>
              </a:rPr>
              <a:t></a:t>
            </a:r>
            <a:r>
              <a:rPr sz="1800" dirty="0">
                <a:solidFill>
                  <a:srgbClr val="51848E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dirty="0">
                <a:latin typeface="宋体" panose="02010600030101010101" pitchFamily="2" charset="-122"/>
                <a:cs typeface="宋体" panose="02010600030101010101" pitchFamily="2" charset="-122"/>
              </a:rPr>
              <a:t>对未付款的书籍可以进行退货，即将书籍状态改为已退 货。</a:t>
            </a:r>
            <a:endParaRPr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490"/>
              </a:spcBef>
            </a:pPr>
            <a:fld id="{81D60167-4931-47E6-BA6A-407CBD079E47}" type="slidenum">
              <a:rPr spc="10" dirty="0"/>
              <a:t>5</a:t>
            </a:fld>
            <a:endParaRPr spc="1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74662" y="267017"/>
            <a:ext cx="2057400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spc="95" dirty="0">
                <a:solidFill>
                  <a:srgbClr val="000000"/>
                </a:solidFill>
              </a:rPr>
              <a:t>主</a:t>
            </a:r>
            <a:r>
              <a:rPr sz="3950" spc="30" dirty="0">
                <a:solidFill>
                  <a:srgbClr val="000000"/>
                </a:solidFill>
              </a:rPr>
              <a:t>要功能</a:t>
            </a:r>
            <a:endParaRPr sz="39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575" y="1169612"/>
            <a:ext cx="7901305" cy="522605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  <a:tabLst>
                <a:tab pos="288925" algn="l"/>
              </a:tabLst>
            </a:pPr>
            <a:r>
              <a:rPr sz="2100" dirty="0">
                <a:solidFill>
                  <a:srgbClr val="4679B0"/>
                </a:solidFill>
                <a:latin typeface="Wingdings 3" panose="05040102010807070707"/>
                <a:cs typeface="Wingdings 3" panose="05040102010807070707"/>
              </a:rPr>
              <a:t></a:t>
            </a:r>
            <a:r>
              <a:rPr sz="2100" dirty="0">
                <a:solidFill>
                  <a:srgbClr val="4679B0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750" spc="25" dirty="0">
                <a:latin typeface="Times New Roman" panose="02020603050405020304"/>
                <a:cs typeface="Times New Roman" panose="02020603050405020304"/>
              </a:rPr>
              <a:t>8.</a:t>
            </a:r>
            <a:r>
              <a:rPr sz="275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spc="100" dirty="0">
                <a:latin typeface="宋体" panose="02010600030101010101" pitchFamily="2" charset="-122"/>
                <a:cs typeface="宋体" panose="02010600030101010101" pitchFamily="2" charset="-122"/>
              </a:rPr>
              <a:t>添加新书：</a:t>
            </a:r>
            <a:endParaRPr sz="27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565785" marR="5080" indent="-276860" algn="just">
              <a:lnSpc>
                <a:spcPts val="2780"/>
              </a:lnSpc>
              <a:spcBef>
                <a:spcPts val="760"/>
              </a:spcBef>
            </a:pPr>
            <a:r>
              <a:rPr sz="1800" dirty="0">
                <a:solidFill>
                  <a:srgbClr val="51848E"/>
                </a:solidFill>
                <a:latin typeface="Wingdings 3" panose="05040102010807070707"/>
                <a:cs typeface="Wingdings 3" panose="05040102010807070707"/>
              </a:rPr>
              <a:t></a:t>
            </a:r>
            <a:r>
              <a:rPr sz="1800" spc="280" dirty="0">
                <a:solidFill>
                  <a:srgbClr val="51848E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latin typeface="宋体" panose="02010600030101010101" pitchFamily="2" charset="-122"/>
                <a:cs typeface="宋体" panose="02010600030101010101" pitchFamily="2" charset="-122"/>
              </a:rPr>
              <a:t>对于已付款的书籍，当书籍到货后，可以将其添加到库 存中，此时需要添加上书籍的零售价格。</a:t>
            </a:r>
            <a:endParaRPr sz="24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595"/>
              </a:spcBef>
              <a:tabLst>
                <a:tab pos="288925" algn="l"/>
              </a:tabLst>
            </a:pPr>
            <a:r>
              <a:rPr sz="2100" dirty="0">
                <a:solidFill>
                  <a:srgbClr val="4679B0"/>
                </a:solidFill>
                <a:latin typeface="Wingdings 3" panose="05040102010807070707"/>
                <a:cs typeface="Wingdings 3" panose="05040102010807070707"/>
              </a:rPr>
              <a:t></a:t>
            </a:r>
            <a:r>
              <a:rPr sz="2100" dirty="0">
                <a:solidFill>
                  <a:srgbClr val="4679B0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750" spc="25" dirty="0">
                <a:latin typeface="Times New Roman" panose="02020603050405020304"/>
                <a:cs typeface="Times New Roman" panose="02020603050405020304"/>
              </a:rPr>
              <a:t>9.</a:t>
            </a:r>
            <a:r>
              <a:rPr sz="275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spc="100" dirty="0">
                <a:latin typeface="宋体" panose="02010600030101010101" pitchFamily="2" charset="-122"/>
                <a:cs typeface="宋体" panose="02010600030101010101" pitchFamily="2" charset="-122"/>
              </a:rPr>
              <a:t>书籍购买：</a:t>
            </a:r>
            <a:endParaRPr sz="27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565785" marR="5080" indent="-276860" algn="just">
              <a:lnSpc>
                <a:spcPts val="2700"/>
              </a:lnSpc>
              <a:spcBef>
                <a:spcPts val="895"/>
              </a:spcBef>
            </a:pPr>
            <a:r>
              <a:rPr sz="1800" dirty="0">
                <a:solidFill>
                  <a:srgbClr val="51848E"/>
                </a:solidFill>
                <a:latin typeface="Wingdings 3" panose="05040102010807070707"/>
                <a:cs typeface="Wingdings 3" panose="05040102010807070707"/>
              </a:rPr>
              <a:t></a:t>
            </a:r>
            <a:r>
              <a:rPr sz="1800" spc="280" dirty="0">
                <a:solidFill>
                  <a:srgbClr val="51848E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latin typeface="宋体" panose="02010600030101010101" pitchFamily="2" charset="-122"/>
                <a:cs typeface="宋体" panose="02010600030101010101" pitchFamily="2" charset="-122"/>
              </a:rPr>
              <a:t>使用标售零售价格购买书籍，这时书籍的库存数量需要 相应地减少。</a:t>
            </a:r>
            <a:endParaRPr sz="24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  <a:tabLst>
                <a:tab pos="288925" algn="l"/>
              </a:tabLst>
            </a:pPr>
            <a:r>
              <a:rPr sz="2100" dirty="0">
                <a:solidFill>
                  <a:srgbClr val="4679B0"/>
                </a:solidFill>
                <a:latin typeface="Wingdings 3" panose="05040102010807070707"/>
                <a:cs typeface="Wingdings 3" panose="05040102010807070707"/>
              </a:rPr>
              <a:t></a:t>
            </a:r>
            <a:r>
              <a:rPr sz="2100" dirty="0">
                <a:solidFill>
                  <a:srgbClr val="4679B0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750" spc="30" dirty="0">
                <a:latin typeface="Times New Roman" panose="02020603050405020304"/>
                <a:cs typeface="Times New Roman" panose="02020603050405020304"/>
              </a:rPr>
              <a:t>10.</a:t>
            </a:r>
            <a:r>
              <a:rPr sz="275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spc="105" dirty="0">
                <a:latin typeface="宋体" panose="02010600030101010101" pitchFamily="2" charset="-122"/>
                <a:cs typeface="宋体" panose="02010600030101010101" pitchFamily="2" charset="-122"/>
              </a:rPr>
              <a:t>财务管理：</a:t>
            </a:r>
            <a:endParaRPr sz="27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565785" marR="5080" indent="-276860" algn="just">
              <a:lnSpc>
                <a:spcPct val="98000"/>
              </a:lnSpc>
              <a:spcBef>
                <a:spcPts val="715"/>
              </a:spcBef>
            </a:pPr>
            <a:r>
              <a:rPr sz="1800" dirty="0">
                <a:solidFill>
                  <a:srgbClr val="51848E"/>
                </a:solidFill>
                <a:latin typeface="Wingdings 3" panose="05040102010807070707"/>
                <a:cs typeface="Wingdings 3" panose="05040102010807070707"/>
              </a:rPr>
              <a:t></a:t>
            </a:r>
            <a:r>
              <a:rPr sz="1800" spc="225" dirty="0">
                <a:solidFill>
                  <a:srgbClr val="51848E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latin typeface="宋体" panose="02010600030101010101" pitchFamily="2" charset="-122"/>
                <a:cs typeface="宋体" panose="02010600030101010101" pitchFamily="2" charset="-122"/>
              </a:rPr>
              <a:t>当对书籍进货进行付款，或购买书籍时，系统的财务账 户都要添加一条账单记录，记录下财务账户的支出或收 入。</a:t>
            </a:r>
            <a:endParaRPr sz="24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  <a:tabLst>
                <a:tab pos="288925" algn="l"/>
              </a:tabLst>
            </a:pPr>
            <a:r>
              <a:rPr sz="2100" dirty="0">
                <a:solidFill>
                  <a:srgbClr val="4679B0"/>
                </a:solidFill>
                <a:latin typeface="Wingdings 3" panose="05040102010807070707"/>
                <a:cs typeface="Wingdings 3" panose="05040102010807070707"/>
              </a:rPr>
              <a:t></a:t>
            </a:r>
            <a:r>
              <a:rPr sz="2100" dirty="0">
                <a:solidFill>
                  <a:srgbClr val="4679B0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750" spc="5" dirty="0">
                <a:latin typeface="Times New Roman" panose="02020603050405020304"/>
                <a:cs typeface="Times New Roman" panose="02020603050405020304"/>
              </a:rPr>
              <a:t>11.</a:t>
            </a:r>
            <a:r>
              <a:rPr sz="275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spc="100" dirty="0">
                <a:latin typeface="宋体" panose="02010600030101010101" pitchFamily="2" charset="-122"/>
                <a:cs typeface="宋体" panose="02010600030101010101" pitchFamily="2" charset="-122"/>
              </a:rPr>
              <a:t>查看账单</a:t>
            </a:r>
            <a:endParaRPr sz="27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88925">
              <a:lnSpc>
                <a:spcPct val="100000"/>
              </a:lnSpc>
              <a:spcBef>
                <a:spcPts val="505"/>
              </a:spcBef>
              <a:tabLst>
                <a:tab pos="565150" algn="l"/>
              </a:tabLst>
            </a:pPr>
            <a:r>
              <a:rPr sz="1800" dirty="0">
                <a:solidFill>
                  <a:srgbClr val="51848E"/>
                </a:solidFill>
                <a:latin typeface="Wingdings 3" panose="05040102010807070707"/>
                <a:cs typeface="Wingdings 3" panose="05040102010807070707"/>
              </a:rPr>
              <a:t></a:t>
            </a:r>
            <a:r>
              <a:rPr sz="1800" dirty="0">
                <a:solidFill>
                  <a:srgbClr val="51848E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dirty="0">
                <a:latin typeface="宋体" panose="02010600030101010101" pitchFamily="2" charset="-122"/>
                <a:cs typeface="宋体" panose="02010600030101010101" pitchFamily="2" charset="-122"/>
              </a:rPr>
              <a:t>查看某段时间内财务账户的收入或支出记录。</a:t>
            </a:r>
            <a:endParaRPr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490"/>
              </a:spcBef>
            </a:pPr>
            <a:fld id="{81D60167-4931-47E6-BA6A-407CBD079E47}" type="slidenum">
              <a:rPr spc="10" dirty="0"/>
              <a:t>6</a:t>
            </a:fld>
            <a:endParaRPr spc="1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74662" y="267017"/>
            <a:ext cx="2057400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spc="95" dirty="0">
                <a:solidFill>
                  <a:srgbClr val="000000"/>
                </a:solidFill>
              </a:rPr>
              <a:t>主</a:t>
            </a:r>
            <a:r>
              <a:rPr sz="3950" spc="30" dirty="0">
                <a:solidFill>
                  <a:srgbClr val="000000"/>
                </a:solidFill>
              </a:rPr>
              <a:t>要功能</a:t>
            </a:r>
            <a:endParaRPr sz="39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575" y="1244536"/>
            <a:ext cx="7939405" cy="51352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88925" marR="15240" indent="-276860" algn="just">
              <a:lnSpc>
                <a:spcPct val="100000"/>
              </a:lnSpc>
              <a:spcBef>
                <a:spcPts val="90"/>
              </a:spcBef>
            </a:pPr>
            <a:r>
              <a:rPr sz="1800" dirty="0">
                <a:solidFill>
                  <a:srgbClr val="4679B0"/>
                </a:solidFill>
                <a:latin typeface="Wingdings 3" panose="05040102010807070707"/>
                <a:cs typeface="Wingdings 3" panose="05040102010807070707"/>
              </a:rPr>
              <a:t></a:t>
            </a:r>
            <a:r>
              <a:rPr sz="1800" spc="295" dirty="0">
                <a:solidFill>
                  <a:srgbClr val="4679B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5" dirty="0">
                <a:latin typeface="Times New Roman" panose="02020603050405020304"/>
                <a:cs typeface="Times New Roman" panose="02020603050405020304"/>
              </a:rPr>
              <a:t>1.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latin typeface="宋体" panose="02010600030101010101" pitchFamily="2" charset="-122"/>
                <a:cs typeface="宋体" panose="02010600030101010101" pitchFamily="2" charset="-122"/>
              </a:rPr>
              <a:t>以上只列出了该图书销售管理系统的基本功能要求，实 </a:t>
            </a:r>
            <a:r>
              <a:rPr sz="2400" spc="-5" dirty="0">
                <a:latin typeface="宋体" panose="02010600030101010101" pitchFamily="2" charset="-122"/>
                <a:cs typeface="宋体" panose="02010600030101010101" pitchFamily="2" charset="-122"/>
              </a:rPr>
              <a:t>际开发系统时需要自行设计和补充系统功能，使得该系统 </a:t>
            </a:r>
            <a:r>
              <a:rPr sz="2400" dirty="0">
                <a:latin typeface="宋体" panose="02010600030101010101" pitchFamily="2" charset="-122"/>
                <a:cs typeface="宋体" panose="02010600030101010101" pitchFamily="2" charset="-122"/>
              </a:rPr>
              <a:t>能满足真实环境下书城管理员用户的需求。</a:t>
            </a:r>
          </a:p>
          <a:p>
            <a:pPr marL="288925" marR="15240" indent="-276860" algn="just">
              <a:lnSpc>
                <a:spcPct val="102000"/>
              </a:lnSpc>
              <a:spcBef>
                <a:spcPts val="525"/>
              </a:spcBef>
            </a:pPr>
            <a:r>
              <a:rPr sz="1800" dirty="0">
                <a:solidFill>
                  <a:srgbClr val="4679B0"/>
                </a:solidFill>
                <a:latin typeface="Wingdings 3" panose="05040102010807070707"/>
                <a:cs typeface="Wingdings 3" panose="05040102010807070707"/>
              </a:rPr>
              <a:t></a:t>
            </a:r>
            <a:r>
              <a:rPr sz="1800" spc="295" dirty="0">
                <a:solidFill>
                  <a:srgbClr val="4679B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5" dirty="0">
                <a:latin typeface="Times New Roman" panose="02020603050405020304"/>
                <a:cs typeface="Times New Roman" panose="02020603050405020304"/>
              </a:rPr>
              <a:t>2.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latin typeface="宋体" panose="02010600030101010101" pitchFamily="2" charset="-122"/>
                <a:cs typeface="宋体" panose="02010600030101010101" pitchFamily="2" charset="-122"/>
              </a:rPr>
              <a:t>本次实验对数据库管理软件，编程语言和开发框架不做 任何限制。</a:t>
            </a:r>
            <a:r>
              <a:rPr lang="en-US" sz="2400" dirty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2400" dirty="0">
                <a:latin typeface="宋体" panose="02010600030101010101" pitchFamily="2" charset="-122"/>
                <a:cs typeface="宋体" panose="02010600030101010101" pitchFamily="2" charset="-122"/>
              </a:rPr>
              <a:t>可以不使用</a:t>
            </a:r>
            <a:r>
              <a:rPr lang="en-US" altLang="zh-CN" sz="2400" dirty="0">
                <a:latin typeface="宋体" panose="02010600030101010101" pitchFamily="2" charset="-122"/>
                <a:cs typeface="宋体" panose="02010600030101010101" pitchFamily="2" charset="-122"/>
              </a:rPr>
              <a:t>odbc</a:t>
            </a:r>
            <a:r>
              <a:rPr lang="zh-CN" altLang="en-US" sz="2400" dirty="0">
                <a:latin typeface="宋体" panose="02010600030101010101" pitchFamily="2" charset="-122"/>
                <a:cs typeface="宋体" panose="02010600030101010101" pitchFamily="2" charset="-122"/>
              </a:rPr>
              <a:t>进行数据库数据互连，各编程语言有相应的开源函数库可供数据互连</a:t>
            </a:r>
            <a:r>
              <a:rPr lang="en-US" sz="2400" dirty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sz="24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 algn="just">
              <a:lnSpc>
                <a:spcPct val="100000"/>
              </a:lnSpc>
              <a:spcBef>
                <a:spcPts val="575"/>
              </a:spcBef>
            </a:pPr>
            <a:r>
              <a:rPr sz="1800" dirty="0">
                <a:solidFill>
                  <a:srgbClr val="4679B0"/>
                </a:solidFill>
                <a:latin typeface="Wingdings 3" panose="05040102010807070707"/>
                <a:cs typeface="Wingdings 3" panose="05040102010807070707"/>
              </a:rPr>
              <a:t></a:t>
            </a:r>
            <a:r>
              <a:rPr sz="1800" spc="290" dirty="0">
                <a:solidFill>
                  <a:srgbClr val="4679B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3.</a:t>
            </a:r>
            <a:r>
              <a:rPr sz="24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latin typeface="宋体" panose="02010600030101010101" pitchFamily="2" charset="-122"/>
                <a:cs typeface="宋体" panose="02010600030101010101" pitchFamily="2" charset="-122"/>
              </a:rPr>
              <a:t>系统界面可以采用桌面程序，如</a:t>
            </a:r>
            <a:r>
              <a:rPr sz="2400" spc="-15" dirty="0">
                <a:latin typeface="Times New Roman" panose="02020603050405020304"/>
                <a:cs typeface="Times New Roman" panose="02020603050405020304"/>
              </a:rPr>
              <a:t>VC++</a:t>
            </a:r>
            <a:r>
              <a:rPr sz="2400" dirty="0">
                <a:latin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sz="2400" spc="-15" dirty="0">
                <a:latin typeface="Times New Roman" panose="02020603050405020304"/>
                <a:cs typeface="Times New Roman" panose="02020603050405020304"/>
              </a:rPr>
              <a:t>MFC</a:t>
            </a:r>
            <a:r>
              <a:rPr sz="2400" spc="-15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2400" dirty="0">
                <a:latin typeface="宋体" panose="02010600030101010101" pitchFamily="2" charset="-122"/>
                <a:cs typeface="宋体" panose="02010600030101010101" pitchFamily="2" charset="-122"/>
              </a:rPr>
              <a:t>也可以</a:t>
            </a:r>
          </a:p>
          <a:p>
            <a:pPr marL="288925">
              <a:lnSpc>
                <a:spcPct val="100000"/>
              </a:lnSpc>
              <a:spcBef>
                <a:spcPts val="50"/>
              </a:spcBef>
              <a:tabLst>
                <a:tab pos="4179570" algn="l"/>
              </a:tabLst>
            </a:pPr>
            <a:r>
              <a:rPr sz="2400" dirty="0">
                <a:latin typeface="宋体" panose="02010600030101010101" pitchFamily="2" charset="-122"/>
                <a:cs typeface="宋体" panose="02010600030101010101" pitchFamily="2" charset="-122"/>
              </a:rPr>
              <a:t>采</a:t>
            </a:r>
            <a:r>
              <a:rPr sz="2400" spc="-5" dirty="0">
                <a:latin typeface="宋体" panose="02010600030101010101" pitchFamily="2" charset="-122"/>
                <a:cs typeface="宋体" panose="02010600030101010101" pitchFamily="2" charset="-122"/>
              </a:rPr>
              <a:t>用</a:t>
            </a:r>
            <a:r>
              <a:rPr sz="2400" spc="-114" dirty="0">
                <a:latin typeface="Times New Roman" panose="02020603050405020304"/>
                <a:cs typeface="Times New Roman" panose="02020603050405020304"/>
              </a:rPr>
              <a:t>Web</a:t>
            </a:r>
            <a:r>
              <a:rPr sz="2400" dirty="0">
                <a:latin typeface="宋体" panose="02010600030101010101" pitchFamily="2" charset="-122"/>
                <a:cs typeface="宋体" panose="02010600030101010101" pitchFamily="2" charset="-122"/>
              </a:rPr>
              <a:t>应用程序如</a:t>
            </a:r>
            <a:r>
              <a:rPr sz="2400" spc="-55" dirty="0">
                <a:latin typeface="Times New Roman" panose="02020603050405020304"/>
                <a:cs typeface="Times New Roman" panose="02020603050405020304"/>
              </a:rPr>
              <a:t>ASP.net,	</a:t>
            </a:r>
            <a:r>
              <a:rPr sz="2400" spc="-60" dirty="0">
                <a:latin typeface="Times New Roman" panose="02020603050405020304"/>
                <a:cs typeface="Times New Roman" panose="02020603050405020304"/>
              </a:rPr>
              <a:t>JSP,</a:t>
            </a:r>
            <a:r>
              <a:rPr sz="24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 err="1">
                <a:latin typeface="Times New Roman" panose="02020603050405020304"/>
                <a:cs typeface="Times New Roman" panose="02020603050405020304"/>
              </a:rPr>
              <a:t>PHP</a:t>
            </a:r>
            <a:r>
              <a:rPr sz="2400" dirty="0" err="1">
                <a:latin typeface="宋体" panose="02010600030101010101" pitchFamily="2" charset="-122"/>
                <a:cs typeface="宋体" panose="02010600030101010101" pitchFamily="2" charset="-122"/>
              </a:rPr>
              <a:t>等</a:t>
            </a:r>
            <a:r>
              <a:rPr sz="2400" dirty="0"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</a:p>
          <a:p>
            <a:pPr marL="288925" marR="5080" indent="-276860" algn="just">
              <a:lnSpc>
                <a:spcPct val="100000"/>
              </a:lnSpc>
              <a:spcBef>
                <a:spcPts val="560"/>
              </a:spcBef>
            </a:pPr>
            <a:r>
              <a:rPr sz="1800" dirty="0">
                <a:solidFill>
                  <a:srgbClr val="4679B0"/>
                </a:solidFill>
                <a:latin typeface="Wingdings 3" panose="05040102010807070707"/>
                <a:cs typeface="Wingdings 3" panose="05040102010807070707"/>
              </a:rPr>
              <a:t></a:t>
            </a:r>
            <a:r>
              <a:rPr sz="1800" spc="295" dirty="0">
                <a:solidFill>
                  <a:srgbClr val="4679B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5" dirty="0">
                <a:latin typeface="Times New Roman" panose="02020603050405020304"/>
                <a:cs typeface="Times New Roman" panose="02020603050405020304"/>
              </a:rPr>
              <a:t>4.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latin typeface="宋体" panose="02010600030101010101" pitchFamily="2" charset="-122"/>
                <a:cs typeface="宋体" panose="02010600030101010101" pitchFamily="2" charset="-122"/>
              </a:rPr>
              <a:t>系统的</a:t>
            </a:r>
            <a:r>
              <a:rPr sz="2400" spc="-30" dirty="0">
                <a:latin typeface="Times New Roman" panose="02020603050405020304"/>
                <a:cs typeface="Times New Roman" panose="02020603050405020304"/>
              </a:rPr>
              <a:t>UI</a:t>
            </a:r>
            <a:r>
              <a:rPr sz="2400" dirty="0">
                <a:latin typeface="宋体" panose="02010600030101010101" pitchFamily="2" charset="-122"/>
                <a:cs typeface="宋体" panose="02010600030101010101" pitchFamily="2" charset="-122"/>
              </a:rPr>
              <a:t>不是本次实验的重点，不要求界面漂亮，但求 操作简便，明了。如果你觉得界面开发太过复杂，直接用 命令行也是可以接受的。</a:t>
            </a:r>
          </a:p>
          <a:p>
            <a:pPr marL="288925" marR="15240" indent="-276860" algn="just">
              <a:lnSpc>
                <a:spcPct val="102000"/>
              </a:lnSpc>
              <a:spcBef>
                <a:spcPts val="530"/>
              </a:spcBef>
            </a:pPr>
            <a:r>
              <a:rPr sz="1800" dirty="0">
                <a:solidFill>
                  <a:srgbClr val="4679B0"/>
                </a:solidFill>
                <a:latin typeface="Wingdings 3" panose="05040102010807070707"/>
                <a:cs typeface="Wingdings 3" panose="05040102010807070707"/>
              </a:rPr>
              <a:t></a:t>
            </a:r>
            <a:r>
              <a:rPr sz="1800" spc="295" dirty="0">
                <a:solidFill>
                  <a:srgbClr val="4679B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5" dirty="0">
                <a:latin typeface="Times New Roman" panose="02020603050405020304"/>
                <a:cs typeface="Times New Roman" panose="02020603050405020304"/>
              </a:rPr>
              <a:t>5.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latin typeface="宋体" panose="02010600030101010101" pitchFamily="2" charset="-122"/>
                <a:cs typeface="宋体" panose="02010600030101010101" pitchFamily="2" charset="-122"/>
              </a:rPr>
              <a:t>实验测试时，你可以自行输入测试数据，诸如书籍信息 可以在网上找。只要能演示出系统功能即可。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490"/>
              </a:spcBef>
            </a:pPr>
            <a:fld id="{81D60167-4931-47E6-BA6A-407CBD079E47}" type="slidenum">
              <a:rPr spc="10" dirty="0"/>
              <a:t>7</a:t>
            </a:fld>
            <a:endParaRPr spc="1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74662" y="267017"/>
            <a:ext cx="2057400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spc="95" dirty="0">
                <a:solidFill>
                  <a:srgbClr val="000000"/>
                </a:solidFill>
              </a:rPr>
              <a:t>实</a:t>
            </a:r>
            <a:r>
              <a:rPr sz="3950" spc="30" dirty="0">
                <a:solidFill>
                  <a:srgbClr val="000000"/>
                </a:solidFill>
              </a:rPr>
              <a:t>验说明</a:t>
            </a:r>
            <a:endParaRPr sz="39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575" y="1140015"/>
            <a:ext cx="8072755" cy="2859437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0"/>
              </a:spcBef>
              <a:tabLst>
                <a:tab pos="288925" algn="l"/>
              </a:tabLst>
            </a:pPr>
            <a:r>
              <a:rPr sz="1800" dirty="0">
                <a:solidFill>
                  <a:srgbClr val="4679B0"/>
                </a:solidFill>
                <a:latin typeface="Wingdings 3" panose="05040102010807070707"/>
                <a:cs typeface="Wingdings 3" panose="05040102010807070707"/>
              </a:rPr>
              <a:t></a:t>
            </a:r>
            <a:r>
              <a:rPr sz="1800" dirty="0">
                <a:solidFill>
                  <a:srgbClr val="4679B0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dirty="0">
                <a:latin typeface="宋体" panose="02010600030101010101" pitchFamily="2" charset="-122"/>
                <a:cs typeface="宋体" panose="02010600030101010101" pitchFamily="2" charset="-122"/>
              </a:rPr>
              <a:t>本次实验允许一至两人一组完成。</a:t>
            </a:r>
          </a:p>
          <a:p>
            <a:pPr marL="12700">
              <a:lnSpc>
                <a:spcPts val="2865"/>
              </a:lnSpc>
              <a:spcBef>
                <a:spcPts val="650"/>
              </a:spcBef>
              <a:tabLst>
                <a:tab pos="288925" algn="l"/>
              </a:tabLst>
            </a:pPr>
            <a:r>
              <a:rPr sz="1800" dirty="0">
                <a:solidFill>
                  <a:srgbClr val="4679B0"/>
                </a:solidFill>
                <a:latin typeface="Wingdings 3" panose="05040102010807070707"/>
                <a:cs typeface="Wingdings 3" panose="05040102010807070707"/>
              </a:rPr>
              <a:t></a:t>
            </a:r>
            <a:r>
              <a:rPr sz="1800" dirty="0">
                <a:solidFill>
                  <a:srgbClr val="4679B0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dirty="0">
                <a:latin typeface="宋体" panose="02010600030101010101" pitchFamily="2" charset="-122"/>
              </a:rPr>
              <a:t>本次实验的截止时间为</a:t>
            </a:r>
            <a:r>
              <a:rPr lang="en-US" altLang="zh-CN" sz="2400" spc="-5" dirty="0">
                <a:latin typeface="Times New Roman" panose="02020603050405020304"/>
                <a:cs typeface="Times New Roman" panose="02020603050405020304"/>
              </a:rPr>
              <a:t>2026</a:t>
            </a:r>
            <a:r>
              <a:rPr lang="zh-CN" altLang="en-US" sz="2400" spc="-5" dirty="0">
                <a:latin typeface="Times New Roman" panose="02020603050405020304"/>
                <a:cs typeface="Times New Roman" panose="02020603050405020304"/>
              </a:rPr>
              <a:t>年</a:t>
            </a:r>
            <a:r>
              <a:rPr lang="en-US" altLang="zh-CN" sz="2400" spc="-5">
                <a:latin typeface="Times New Roman" panose="02020603050405020304"/>
                <a:cs typeface="Times New Roman" panose="02020603050405020304"/>
              </a:rPr>
              <a:t>6</a:t>
            </a:r>
            <a:r>
              <a:rPr sz="2400" spc="-5">
                <a:latin typeface="Times New Roman" panose="02020603050405020304"/>
                <a:cs typeface="Times New Roman" panose="02020603050405020304"/>
              </a:rPr>
              <a:t>月</a:t>
            </a:r>
            <a:r>
              <a:rPr lang="en-US" altLang="zh-CN" sz="2400" spc="-5" dirty="0">
                <a:latin typeface="Times New Roman" panose="02020603050405020304"/>
                <a:cs typeface="Times New Roman" panose="02020603050405020304"/>
              </a:rPr>
              <a:t>5</a:t>
            </a:r>
            <a:r>
              <a:rPr sz="2400" spc="-5">
                <a:latin typeface="Times New Roman" panose="02020603050405020304"/>
                <a:cs typeface="Times New Roman" panose="02020603050405020304"/>
              </a:rPr>
              <a:t>日</a:t>
            </a:r>
            <a:r>
              <a:rPr sz="2400" dirty="0">
                <a:latin typeface="宋体" panose="02010600030101010101" pitchFamily="2" charset="-122"/>
                <a:cs typeface="宋体" panose="02010600030101010101" pitchFamily="2" charset="-122"/>
              </a:rPr>
              <a:t>，该时间点之前你需要将系统给助教现场测试过并提交实验报告。请大家尽快动手。</a:t>
            </a:r>
          </a:p>
          <a:p>
            <a:pPr marL="288925" marR="148590" indent="-276860" algn="just">
              <a:lnSpc>
                <a:spcPct val="98000"/>
              </a:lnSpc>
              <a:spcBef>
                <a:spcPts val="790"/>
              </a:spcBef>
            </a:pPr>
            <a:r>
              <a:rPr sz="1800" dirty="0">
                <a:solidFill>
                  <a:srgbClr val="4679B0"/>
                </a:solidFill>
                <a:latin typeface="Wingdings 3" panose="05040102010807070707"/>
                <a:cs typeface="Wingdings 3" panose="05040102010807070707"/>
              </a:rPr>
              <a:t></a:t>
            </a:r>
            <a:r>
              <a:rPr sz="1800" spc="225" dirty="0">
                <a:solidFill>
                  <a:srgbClr val="4679B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latin typeface="宋体" panose="02010600030101010101" pitchFamily="2" charset="-122"/>
                <a:cs typeface="宋体" panose="02010600030101010101" pitchFamily="2" charset="-122"/>
              </a:rPr>
              <a:t>实验完成后可以在接下来任何一次的上机课上由助教现场 </a:t>
            </a:r>
            <a:r>
              <a:rPr sz="2400" dirty="0" err="1">
                <a:latin typeface="宋体" panose="02010600030101010101" pitchFamily="2" charset="-122"/>
                <a:cs typeface="宋体" panose="02010600030101010101" pitchFamily="2" charset="-122"/>
              </a:rPr>
              <a:t>测试，当然要在截止时间之前。现场测试时，你需要演示</a:t>
            </a:r>
            <a:r>
              <a:rPr sz="240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400" dirty="0" err="1">
                <a:latin typeface="宋体" panose="02010600030101010101" pitchFamily="2" charset="-122"/>
                <a:cs typeface="宋体" panose="02010600030101010101" pitchFamily="2" charset="-122"/>
              </a:rPr>
              <a:t>系统的主要功能</a:t>
            </a:r>
            <a:r>
              <a:rPr sz="2400" dirty="0"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490"/>
              </a:spcBef>
            </a:pPr>
            <a:fld id="{81D60167-4931-47E6-BA6A-407CBD079E47}" type="slidenum">
              <a:rPr spc="10" dirty="0"/>
              <a:t>8</a:t>
            </a:fld>
            <a:endParaRPr spc="1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74662" y="267017"/>
            <a:ext cx="2057400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spc="95" dirty="0">
                <a:solidFill>
                  <a:srgbClr val="000000"/>
                </a:solidFill>
              </a:rPr>
              <a:t>实</a:t>
            </a:r>
            <a:r>
              <a:rPr sz="3950" spc="30" dirty="0">
                <a:solidFill>
                  <a:srgbClr val="000000"/>
                </a:solidFill>
              </a:rPr>
              <a:t>验说明</a:t>
            </a:r>
            <a:endParaRPr sz="39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575" y="1263586"/>
            <a:ext cx="8082915" cy="3197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30"/>
              </a:lnSpc>
              <a:spcBef>
                <a:spcPts val="100"/>
              </a:spcBef>
              <a:tabLst>
                <a:tab pos="288925" algn="l"/>
              </a:tabLst>
            </a:pPr>
            <a:r>
              <a:rPr sz="1800" dirty="0">
                <a:solidFill>
                  <a:srgbClr val="4679B0"/>
                </a:solidFill>
                <a:latin typeface="Wingdings 3" panose="05040102010807070707"/>
                <a:cs typeface="Wingdings 3" panose="05040102010807070707"/>
              </a:rPr>
              <a:t></a:t>
            </a:r>
            <a:r>
              <a:rPr sz="1800" dirty="0">
                <a:solidFill>
                  <a:srgbClr val="4679B0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dirty="0">
                <a:latin typeface="宋体" panose="02010600030101010101" pitchFamily="2" charset="-122"/>
                <a:cs typeface="宋体" panose="02010600030101010101" pitchFamily="2" charset="-122"/>
              </a:rPr>
              <a:t>对于两人一组的同学，请一定注意要在实验报告中写清楚</a:t>
            </a:r>
          </a:p>
          <a:p>
            <a:pPr marL="288925">
              <a:lnSpc>
                <a:spcPts val="2830"/>
              </a:lnSpc>
            </a:pPr>
            <a:r>
              <a:rPr sz="2400" dirty="0">
                <a:latin typeface="宋体" panose="02010600030101010101" pitchFamily="2" charset="-122"/>
                <a:cs typeface="宋体" panose="02010600030101010101" pitchFamily="2" charset="-122"/>
              </a:rPr>
              <a:t>分工。现场检查时，也需要两位同学同时在场。</a:t>
            </a:r>
          </a:p>
          <a:p>
            <a:pPr marL="12700">
              <a:lnSpc>
                <a:spcPts val="2790"/>
              </a:lnSpc>
              <a:spcBef>
                <a:spcPts val="725"/>
              </a:spcBef>
              <a:tabLst>
                <a:tab pos="288925" algn="l"/>
              </a:tabLst>
            </a:pPr>
            <a:r>
              <a:rPr sz="1800" dirty="0">
                <a:solidFill>
                  <a:srgbClr val="4679B0"/>
                </a:solidFill>
                <a:latin typeface="Wingdings 3" panose="05040102010807070707"/>
                <a:cs typeface="Wingdings 3" panose="05040102010807070707"/>
              </a:rPr>
              <a:t></a:t>
            </a:r>
            <a:r>
              <a:rPr sz="1800" dirty="0">
                <a:solidFill>
                  <a:srgbClr val="4679B0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dirty="0">
                <a:latin typeface="宋体" panose="02010600030101010101" pitchFamily="2" charset="-122"/>
                <a:cs typeface="宋体" panose="02010600030101010101" pitchFamily="2" charset="-122"/>
              </a:rPr>
              <a:t>本次实验建议大家在自己的机器上完成，如有疑问可在每</a:t>
            </a:r>
          </a:p>
          <a:p>
            <a:pPr marL="288925">
              <a:lnSpc>
                <a:spcPts val="2790"/>
              </a:lnSpc>
            </a:pPr>
            <a:r>
              <a:rPr sz="2400" dirty="0">
                <a:latin typeface="宋体" panose="02010600030101010101" pitchFamily="2" charset="-122"/>
                <a:cs typeface="宋体" panose="02010600030101010101" pitchFamily="2" charset="-122"/>
              </a:rPr>
              <a:t>周的上机课上咨询助教。</a:t>
            </a:r>
          </a:p>
          <a:p>
            <a:pPr marL="288925" marR="157480" indent="-276860" algn="just">
              <a:lnSpc>
                <a:spcPct val="98000"/>
              </a:lnSpc>
              <a:spcBef>
                <a:spcPts val="865"/>
              </a:spcBef>
            </a:pPr>
            <a:r>
              <a:rPr sz="1800" dirty="0">
                <a:solidFill>
                  <a:srgbClr val="4679B0"/>
                </a:solidFill>
                <a:latin typeface="Wingdings 3" panose="05040102010807070707"/>
                <a:cs typeface="Wingdings 3" panose="05040102010807070707"/>
              </a:rPr>
              <a:t></a:t>
            </a:r>
            <a:r>
              <a:rPr sz="1800" spc="280" dirty="0">
                <a:solidFill>
                  <a:srgbClr val="4679B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latin typeface="宋体" panose="02010600030101010101" pitchFamily="2" charset="-122"/>
                <a:cs typeface="宋体" panose="02010600030101010101" pitchFamily="2" charset="-122"/>
              </a:rPr>
              <a:t>实验一定要本组独立完成，如果发现复制别人代码，或者 从网上复制完整工程的代码，将严肃处理。只要大家独立 完成且实现主要功能，分数都不会低的。</a:t>
            </a:r>
          </a:p>
          <a:p>
            <a:pPr marL="288925" marR="5080" indent="-276860" algn="just">
              <a:lnSpc>
                <a:spcPts val="2850"/>
              </a:lnSpc>
              <a:spcBef>
                <a:spcPts val="695"/>
              </a:spcBef>
            </a:pPr>
            <a:endParaRPr sz="2400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490"/>
              </a:spcBef>
            </a:pPr>
            <a:fld id="{81D60167-4931-47E6-BA6A-407CBD079E47}" type="slidenum">
              <a:rPr spc="10" dirty="0"/>
              <a:t>9</a:t>
            </a:fld>
            <a:endParaRPr spc="1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74662" y="267017"/>
            <a:ext cx="2057400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spc="95" dirty="0">
                <a:solidFill>
                  <a:srgbClr val="000000"/>
                </a:solidFill>
              </a:rPr>
              <a:t>实</a:t>
            </a:r>
            <a:r>
              <a:rPr sz="3950" spc="30" dirty="0">
                <a:solidFill>
                  <a:srgbClr val="000000"/>
                </a:solidFill>
              </a:rPr>
              <a:t>验说明</a:t>
            </a:r>
            <a:endParaRPr sz="39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575" y="1121005"/>
            <a:ext cx="7952105" cy="521462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  <a:tabLst>
                <a:tab pos="288925" algn="l"/>
              </a:tabLst>
            </a:pPr>
            <a:r>
              <a:rPr sz="1800" dirty="0">
                <a:solidFill>
                  <a:srgbClr val="4679B0"/>
                </a:solidFill>
                <a:latin typeface="Wingdings 3" panose="05040102010807070707"/>
                <a:cs typeface="Wingdings 3" panose="05040102010807070707"/>
              </a:rPr>
              <a:t></a:t>
            </a:r>
            <a:r>
              <a:rPr sz="1800" dirty="0">
                <a:solidFill>
                  <a:srgbClr val="4679B0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spc="-5" dirty="0">
                <a:latin typeface="Times New Roman" panose="02020603050405020304"/>
                <a:cs typeface="Times New Roman" panose="02020603050405020304"/>
              </a:rPr>
              <a:t>1. </a:t>
            </a:r>
            <a:r>
              <a:rPr sz="2400" dirty="0">
                <a:latin typeface="宋体" panose="02010600030101010101" pitchFamily="2" charset="-122"/>
                <a:cs typeface="宋体" panose="02010600030101010101" pitchFamily="2" charset="-122"/>
              </a:rPr>
              <a:t>数据库设计（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30%</a:t>
            </a:r>
            <a:r>
              <a:rPr sz="2400" dirty="0">
                <a:latin typeface="宋体" panose="02010600030101010101" pitchFamily="2" charset="-122"/>
                <a:cs typeface="宋体" panose="02010600030101010101" pitchFamily="2" charset="-122"/>
              </a:rPr>
              <a:t>）</a:t>
            </a:r>
          </a:p>
          <a:p>
            <a:pPr marL="565785" marR="6350" indent="-276860">
              <a:lnSpc>
                <a:spcPts val="2030"/>
              </a:lnSpc>
              <a:spcBef>
                <a:spcPts val="825"/>
              </a:spcBef>
              <a:tabLst>
                <a:tab pos="565150" algn="l"/>
              </a:tabLst>
            </a:pPr>
            <a:r>
              <a:rPr sz="1500" dirty="0">
                <a:solidFill>
                  <a:srgbClr val="51848E"/>
                </a:solidFill>
                <a:latin typeface="Wingdings 3" panose="05040102010807070707"/>
                <a:cs typeface="Wingdings 3" panose="05040102010807070707"/>
              </a:rPr>
              <a:t></a:t>
            </a:r>
            <a:r>
              <a:rPr sz="1500" dirty="0">
                <a:solidFill>
                  <a:srgbClr val="51848E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考察</a:t>
            </a:r>
            <a:r>
              <a:rPr sz="2000" spc="15" dirty="0">
                <a:latin typeface="宋体" panose="02010600030101010101" pitchFamily="2" charset="-122"/>
                <a:cs typeface="宋体" panose="02010600030101010101" pitchFamily="2" charset="-122"/>
              </a:rPr>
              <a:t>数</a:t>
            </a:r>
            <a:r>
              <a:rPr sz="2000" spc="-55" dirty="0">
                <a:latin typeface="宋体" panose="02010600030101010101" pitchFamily="2" charset="-122"/>
                <a:cs typeface="宋体" panose="02010600030101010101" pitchFamily="2" charset="-122"/>
              </a:rPr>
              <a:t>据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库的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设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计是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否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正确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避免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出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现冗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余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和不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一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致等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问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题。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另</a:t>
            </a:r>
            <a:r>
              <a:rPr sz="2000" spc="20" dirty="0">
                <a:latin typeface="宋体" panose="02010600030101010101" pitchFamily="2" charset="-122"/>
                <a:cs typeface="宋体" panose="02010600030101010101" pitchFamily="2" charset="-122"/>
              </a:rPr>
              <a:t>外 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数据</a:t>
            </a:r>
            <a:r>
              <a:rPr sz="2000" spc="15" dirty="0">
                <a:latin typeface="宋体" panose="02010600030101010101" pitchFamily="2" charset="-122"/>
                <a:cs typeface="宋体" panose="02010600030101010101" pitchFamily="2" charset="-122"/>
              </a:rPr>
              <a:t>库</a:t>
            </a:r>
            <a:r>
              <a:rPr sz="2000" spc="-55" dirty="0">
                <a:latin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设计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需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要满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足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功能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需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求。</a:t>
            </a:r>
            <a:endParaRPr sz="20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  <a:tabLst>
                <a:tab pos="288925" algn="l"/>
              </a:tabLst>
            </a:pPr>
            <a:r>
              <a:rPr sz="1800" dirty="0">
                <a:solidFill>
                  <a:srgbClr val="4679B0"/>
                </a:solidFill>
                <a:latin typeface="Wingdings 3" panose="05040102010807070707"/>
                <a:cs typeface="Wingdings 3" panose="05040102010807070707"/>
              </a:rPr>
              <a:t></a:t>
            </a:r>
            <a:r>
              <a:rPr sz="1800" dirty="0">
                <a:solidFill>
                  <a:srgbClr val="4679B0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spc="-5" dirty="0">
                <a:latin typeface="Times New Roman" panose="02020603050405020304"/>
                <a:cs typeface="Times New Roman" panose="02020603050405020304"/>
              </a:rPr>
              <a:t>2. </a:t>
            </a:r>
            <a:r>
              <a:rPr sz="2400" dirty="0">
                <a:latin typeface="宋体" panose="02010600030101010101" pitchFamily="2" charset="-122"/>
                <a:cs typeface="宋体" panose="02010600030101010101" pitchFamily="2" charset="-122"/>
              </a:rPr>
              <a:t>系统功能（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30%</a:t>
            </a:r>
            <a:r>
              <a:rPr sz="2400" dirty="0">
                <a:latin typeface="宋体" panose="02010600030101010101" pitchFamily="2" charset="-122"/>
                <a:cs typeface="宋体" panose="02010600030101010101" pitchFamily="2" charset="-122"/>
              </a:rPr>
              <a:t>）</a:t>
            </a:r>
          </a:p>
          <a:p>
            <a:pPr marL="288925">
              <a:lnSpc>
                <a:spcPct val="100000"/>
              </a:lnSpc>
              <a:spcBef>
                <a:spcPts val="300"/>
              </a:spcBef>
              <a:tabLst>
                <a:tab pos="565150" algn="l"/>
              </a:tabLst>
            </a:pPr>
            <a:r>
              <a:rPr sz="1500" dirty="0">
                <a:solidFill>
                  <a:srgbClr val="51848E"/>
                </a:solidFill>
                <a:latin typeface="Wingdings 3" panose="05040102010807070707"/>
                <a:cs typeface="Wingdings 3" panose="05040102010807070707"/>
              </a:rPr>
              <a:t></a:t>
            </a:r>
            <a:r>
              <a:rPr sz="1500" dirty="0">
                <a:solidFill>
                  <a:srgbClr val="51848E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是否</a:t>
            </a:r>
            <a:r>
              <a:rPr sz="2000" spc="15" dirty="0">
                <a:latin typeface="宋体" panose="02010600030101010101" pitchFamily="2" charset="-122"/>
                <a:cs typeface="宋体" panose="02010600030101010101" pitchFamily="2" charset="-122"/>
              </a:rPr>
              <a:t>准</a:t>
            </a:r>
            <a:r>
              <a:rPr sz="2000" spc="-55" dirty="0">
                <a:latin typeface="宋体" panose="02010600030101010101" pitchFamily="2" charset="-122"/>
                <a:cs typeface="宋体" panose="02010600030101010101" pitchFamily="2" charset="-122"/>
              </a:rPr>
              <a:t>确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理解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并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实现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本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次实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验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的功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能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需求。</a:t>
            </a:r>
            <a:endParaRPr sz="20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  <a:tabLst>
                <a:tab pos="288925" algn="l"/>
              </a:tabLst>
            </a:pPr>
            <a:r>
              <a:rPr sz="1800" dirty="0">
                <a:solidFill>
                  <a:srgbClr val="4679B0"/>
                </a:solidFill>
                <a:latin typeface="Wingdings 3" panose="05040102010807070707"/>
                <a:cs typeface="Wingdings 3" panose="05040102010807070707"/>
              </a:rPr>
              <a:t></a:t>
            </a:r>
            <a:r>
              <a:rPr sz="1800" dirty="0">
                <a:solidFill>
                  <a:srgbClr val="4679B0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3.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latin typeface="宋体" panose="02010600030101010101" pitchFamily="2" charset="-122"/>
                <a:cs typeface="宋体" panose="02010600030101010101" pitchFamily="2" charset="-122"/>
              </a:rPr>
              <a:t>实验报告</a:t>
            </a:r>
            <a:r>
              <a:rPr sz="2400" spc="5" dirty="0">
                <a:latin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sz="2400" spc="5" dirty="0">
                <a:latin typeface="Times New Roman" panose="02020603050405020304"/>
                <a:cs typeface="Times New Roman" panose="02020603050405020304"/>
              </a:rPr>
              <a:t>20%</a:t>
            </a:r>
            <a:r>
              <a:rPr sz="2400" spc="5" dirty="0">
                <a:latin typeface="宋体" panose="02010600030101010101" pitchFamily="2" charset="-122"/>
                <a:cs typeface="宋体" panose="02010600030101010101" pitchFamily="2" charset="-122"/>
              </a:rPr>
              <a:t>）</a:t>
            </a:r>
            <a:endParaRPr sz="24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88925">
              <a:lnSpc>
                <a:spcPct val="100000"/>
              </a:lnSpc>
              <a:spcBef>
                <a:spcPts val="300"/>
              </a:spcBef>
              <a:tabLst>
                <a:tab pos="565150" algn="l"/>
              </a:tabLst>
            </a:pPr>
            <a:r>
              <a:rPr sz="1500" dirty="0">
                <a:solidFill>
                  <a:srgbClr val="51848E"/>
                </a:solidFill>
                <a:latin typeface="Wingdings 3" panose="05040102010807070707"/>
                <a:cs typeface="Wingdings 3" panose="05040102010807070707"/>
              </a:rPr>
              <a:t></a:t>
            </a:r>
            <a:r>
              <a:rPr sz="1500" dirty="0">
                <a:solidFill>
                  <a:srgbClr val="51848E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实验</a:t>
            </a:r>
            <a:r>
              <a:rPr sz="2000" spc="15" dirty="0">
                <a:latin typeface="宋体" panose="02010600030101010101" pitchFamily="2" charset="-122"/>
                <a:cs typeface="宋体" panose="02010600030101010101" pitchFamily="2" charset="-122"/>
              </a:rPr>
              <a:t>报</a:t>
            </a:r>
            <a:r>
              <a:rPr sz="2000" spc="-55" dirty="0">
                <a:latin typeface="宋体" panose="02010600030101010101" pitchFamily="2" charset="-122"/>
                <a:cs typeface="宋体" panose="02010600030101010101" pitchFamily="2" charset="-122"/>
              </a:rPr>
              <a:t>告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的撰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写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是否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清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晰，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规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范。</a:t>
            </a:r>
            <a:endParaRPr sz="20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  <a:tabLst>
                <a:tab pos="288925" algn="l"/>
              </a:tabLst>
            </a:pPr>
            <a:r>
              <a:rPr sz="1800" dirty="0">
                <a:solidFill>
                  <a:srgbClr val="4679B0"/>
                </a:solidFill>
                <a:latin typeface="Wingdings 3" panose="05040102010807070707"/>
                <a:cs typeface="Wingdings 3" panose="05040102010807070707"/>
              </a:rPr>
              <a:t></a:t>
            </a:r>
            <a:r>
              <a:rPr sz="1800" dirty="0">
                <a:solidFill>
                  <a:srgbClr val="4679B0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4.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latin typeface="宋体" panose="02010600030101010101" pitchFamily="2" charset="-122"/>
                <a:cs typeface="宋体" panose="02010600030101010101" pitchFamily="2" charset="-122"/>
              </a:rPr>
              <a:t>现场测试</a:t>
            </a:r>
            <a:r>
              <a:rPr sz="2400" spc="5" dirty="0">
                <a:latin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sz="2400" spc="5" dirty="0">
                <a:latin typeface="Times New Roman" panose="02020603050405020304"/>
                <a:cs typeface="Times New Roman" panose="02020603050405020304"/>
              </a:rPr>
              <a:t>20%</a:t>
            </a:r>
            <a:r>
              <a:rPr sz="2400" spc="5" dirty="0">
                <a:latin typeface="宋体" panose="02010600030101010101" pitchFamily="2" charset="-122"/>
                <a:cs typeface="宋体" panose="02010600030101010101" pitchFamily="2" charset="-122"/>
              </a:rPr>
              <a:t>）</a:t>
            </a:r>
            <a:endParaRPr sz="24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88925">
              <a:lnSpc>
                <a:spcPct val="100000"/>
              </a:lnSpc>
              <a:spcBef>
                <a:spcPts val="300"/>
              </a:spcBef>
              <a:tabLst>
                <a:tab pos="565150" algn="l"/>
              </a:tabLst>
            </a:pPr>
            <a:r>
              <a:rPr sz="1500" dirty="0">
                <a:solidFill>
                  <a:srgbClr val="51848E"/>
                </a:solidFill>
                <a:latin typeface="Wingdings 3" panose="05040102010807070707"/>
                <a:cs typeface="Wingdings 3" panose="05040102010807070707"/>
              </a:rPr>
              <a:t></a:t>
            </a:r>
            <a:r>
              <a:rPr sz="1500" dirty="0">
                <a:solidFill>
                  <a:srgbClr val="51848E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现场</a:t>
            </a:r>
            <a:r>
              <a:rPr sz="2000" spc="15" dirty="0">
                <a:latin typeface="宋体" panose="02010600030101010101" pitchFamily="2" charset="-122"/>
                <a:cs typeface="宋体" panose="02010600030101010101" pitchFamily="2" charset="-122"/>
              </a:rPr>
              <a:t>测</a:t>
            </a:r>
            <a:r>
              <a:rPr sz="2000" spc="-55" dirty="0">
                <a:latin typeface="宋体" panose="02010600030101010101" pitchFamily="2" charset="-122"/>
                <a:cs typeface="宋体" panose="02010600030101010101" pitchFamily="2" charset="-122"/>
              </a:rPr>
              <a:t>试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时是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否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能成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功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运行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代码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是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否健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壮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20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  <a:tabLst>
                <a:tab pos="288925" algn="l"/>
              </a:tabLst>
            </a:pPr>
            <a:r>
              <a:rPr sz="1800" dirty="0">
                <a:solidFill>
                  <a:srgbClr val="4679B0"/>
                </a:solidFill>
                <a:latin typeface="Wingdings 3" panose="05040102010807070707"/>
                <a:cs typeface="Wingdings 3" panose="05040102010807070707"/>
              </a:rPr>
              <a:t></a:t>
            </a:r>
            <a:r>
              <a:rPr sz="1800" dirty="0">
                <a:solidFill>
                  <a:srgbClr val="4679B0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dirty="0">
                <a:latin typeface="宋体" panose="02010600030101010101" pitchFamily="2" charset="-122"/>
                <a:cs typeface="宋体" panose="02010600030101010101" pitchFamily="2" charset="-122"/>
              </a:rPr>
              <a:t>另加分项：</a:t>
            </a:r>
          </a:p>
          <a:p>
            <a:pPr marL="565785" marR="5080" indent="-276860">
              <a:lnSpc>
                <a:spcPct val="89000"/>
              </a:lnSpc>
              <a:spcBef>
                <a:spcPts val="645"/>
              </a:spcBef>
              <a:tabLst>
                <a:tab pos="565150" algn="l"/>
              </a:tabLst>
            </a:pPr>
            <a:r>
              <a:rPr sz="1500" dirty="0">
                <a:solidFill>
                  <a:srgbClr val="51848E"/>
                </a:solidFill>
                <a:latin typeface="Wingdings 3" panose="05040102010807070707"/>
                <a:cs typeface="Wingdings 3" panose="05040102010807070707"/>
              </a:rPr>
              <a:t></a:t>
            </a:r>
            <a:r>
              <a:rPr sz="1500" dirty="0">
                <a:solidFill>
                  <a:srgbClr val="51848E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如果</a:t>
            </a:r>
            <a:r>
              <a:rPr sz="2000" spc="15" dirty="0">
                <a:latin typeface="宋体" panose="02010600030101010101" pitchFamily="2" charset="-122"/>
                <a:cs typeface="宋体" panose="02010600030101010101" pitchFamily="2" charset="-122"/>
              </a:rPr>
              <a:t>你</a:t>
            </a:r>
            <a:r>
              <a:rPr sz="2000" spc="-55" dirty="0">
                <a:latin typeface="宋体" panose="02010600030101010101" pitchFamily="2" charset="-122"/>
                <a:cs typeface="宋体" panose="02010600030101010101" pitchFamily="2" charset="-122"/>
              </a:rPr>
              <a:t>设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计的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系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统功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能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上除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了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满足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了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我们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基本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需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求外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还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设计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了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其 </a:t>
            </a:r>
            <a:r>
              <a:rPr sz="2000" spc="30" dirty="0">
                <a:latin typeface="宋体" panose="02010600030101010101" pitchFamily="2" charset="-122"/>
                <a:cs typeface="宋体" panose="02010600030101010101" pitchFamily="2" charset="-122"/>
              </a:rPr>
              <a:t>他</a:t>
            </a:r>
            <a:r>
              <a:rPr sz="2000" spc="15" dirty="0">
                <a:latin typeface="宋体" panose="02010600030101010101" pitchFamily="2" charset="-122"/>
                <a:cs typeface="宋体" panose="02010600030101010101" pitchFamily="2" charset="-122"/>
              </a:rPr>
              <a:t>合</a:t>
            </a:r>
            <a:r>
              <a:rPr sz="2000" spc="30" dirty="0">
                <a:latin typeface="宋体" panose="02010600030101010101" pitchFamily="2" charset="-122"/>
                <a:cs typeface="宋体" panose="02010600030101010101" pitchFamily="2" charset="-122"/>
              </a:rPr>
              <a:t>理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且</a:t>
            </a:r>
            <a:r>
              <a:rPr sz="2000" spc="30" dirty="0">
                <a:latin typeface="宋体" panose="02010600030101010101" pitchFamily="2" charset="-122"/>
                <a:cs typeface="宋体" panose="02010600030101010101" pitchFamily="2" charset="-122"/>
              </a:rPr>
              <a:t>实</a:t>
            </a:r>
            <a:r>
              <a:rPr sz="2000" spc="15" dirty="0">
                <a:latin typeface="宋体" panose="02010600030101010101" pitchFamily="2" charset="-122"/>
                <a:cs typeface="宋体" panose="02010600030101010101" pitchFamily="2" charset="-122"/>
              </a:rPr>
              <a:t>用</a:t>
            </a:r>
            <a:r>
              <a:rPr sz="2000" spc="-50" dirty="0">
                <a:latin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sz="2000" spc="30" dirty="0">
                <a:latin typeface="宋体" panose="02010600030101010101" pitchFamily="2" charset="-122"/>
                <a:cs typeface="宋体" panose="02010600030101010101" pitchFamily="2" charset="-122"/>
              </a:rPr>
              <a:t>功</a:t>
            </a:r>
            <a:r>
              <a:rPr sz="2000" spc="15" dirty="0">
                <a:latin typeface="宋体" panose="02010600030101010101" pitchFamily="2" charset="-122"/>
                <a:cs typeface="宋体" panose="02010600030101010101" pitchFamily="2" charset="-122"/>
              </a:rPr>
              <a:t>能</a:t>
            </a:r>
            <a:r>
              <a:rPr sz="2000" spc="-50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2000" spc="30" dirty="0">
                <a:latin typeface="宋体" panose="02010600030101010101" pitchFamily="2" charset="-122"/>
                <a:cs typeface="宋体" panose="02010600030101010101" pitchFamily="2" charset="-122"/>
              </a:rPr>
              <a:t>或</a:t>
            </a:r>
            <a:r>
              <a:rPr sz="2000" spc="15" dirty="0">
                <a:latin typeface="宋体" panose="02010600030101010101" pitchFamily="2" charset="-122"/>
                <a:cs typeface="宋体" panose="02010600030101010101" pitchFamily="2" charset="-122"/>
              </a:rPr>
              <a:t>者</a:t>
            </a:r>
            <a:r>
              <a:rPr sz="2000" spc="-50" dirty="0">
                <a:latin typeface="宋体" panose="02010600030101010101" pitchFamily="2" charset="-122"/>
                <a:cs typeface="宋体" panose="02010600030101010101" pitchFamily="2" charset="-122"/>
              </a:rPr>
              <a:t>你</a:t>
            </a:r>
            <a:r>
              <a:rPr sz="2000" spc="30" dirty="0">
                <a:latin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sz="2000" spc="15" dirty="0">
                <a:latin typeface="宋体" panose="02010600030101010101" pitchFamily="2" charset="-122"/>
                <a:cs typeface="宋体" panose="02010600030101010101" pitchFamily="2" charset="-122"/>
              </a:rPr>
              <a:t>系</a:t>
            </a:r>
            <a:r>
              <a:rPr sz="2000" spc="-50" dirty="0">
                <a:latin typeface="宋体" panose="02010600030101010101" pitchFamily="2" charset="-122"/>
                <a:cs typeface="宋体" panose="02010600030101010101" pitchFamily="2" charset="-122"/>
              </a:rPr>
              <a:t>统</a:t>
            </a:r>
            <a:r>
              <a:rPr sz="2000" spc="30" dirty="0">
                <a:latin typeface="宋体" panose="02010600030101010101" pitchFamily="2" charset="-122"/>
                <a:cs typeface="宋体" panose="02010600030101010101" pitchFamily="2" charset="-122"/>
              </a:rPr>
              <a:t>设</a:t>
            </a:r>
            <a:r>
              <a:rPr sz="2000" spc="15" dirty="0">
                <a:latin typeface="宋体" panose="02010600030101010101" pitchFamily="2" charset="-122"/>
                <a:cs typeface="宋体" panose="02010600030101010101" pitchFamily="2" charset="-122"/>
              </a:rPr>
              <a:t>计</a:t>
            </a:r>
            <a:r>
              <a:rPr sz="2000" spc="-50" dirty="0">
                <a:latin typeface="宋体" panose="02010600030101010101" pitchFamily="2" charset="-122"/>
                <a:cs typeface="宋体" panose="02010600030101010101" pitchFamily="2" charset="-122"/>
              </a:rPr>
              <a:t>时</a:t>
            </a:r>
            <a:r>
              <a:rPr sz="2000" spc="30" dirty="0">
                <a:latin typeface="宋体" panose="02010600030101010101" pitchFamily="2" charset="-122"/>
                <a:cs typeface="宋体" panose="02010600030101010101" pitchFamily="2" charset="-122"/>
              </a:rPr>
              <a:t>采</a:t>
            </a:r>
            <a:r>
              <a:rPr sz="2000" spc="15" dirty="0">
                <a:latin typeface="宋体" panose="02010600030101010101" pitchFamily="2" charset="-122"/>
                <a:cs typeface="宋体" panose="02010600030101010101" pitchFamily="2" charset="-122"/>
              </a:rPr>
              <a:t>用</a:t>
            </a:r>
            <a:r>
              <a:rPr sz="2000" spc="-50" dirty="0">
                <a:latin typeface="宋体" panose="02010600030101010101" pitchFamily="2" charset="-122"/>
                <a:cs typeface="宋体" panose="02010600030101010101" pitchFamily="2" charset="-122"/>
              </a:rPr>
              <a:t>了</a:t>
            </a:r>
            <a:r>
              <a:rPr sz="2000" spc="30" dirty="0">
                <a:latin typeface="宋体" panose="02010600030101010101" pitchFamily="2" charset="-122"/>
                <a:cs typeface="宋体" panose="02010600030101010101" pitchFamily="2" charset="-122"/>
              </a:rPr>
              <a:t>某</a:t>
            </a:r>
            <a:r>
              <a:rPr sz="2000" spc="15" dirty="0">
                <a:latin typeface="宋体" panose="02010600030101010101" pitchFamily="2" charset="-122"/>
                <a:cs typeface="宋体" panose="02010600030101010101" pitchFamily="2" charset="-122"/>
              </a:rPr>
              <a:t>项</a:t>
            </a:r>
            <a:r>
              <a:rPr sz="2000" spc="-50" dirty="0">
                <a:latin typeface="宋体" panose="02010600030101010101" pitchFamily="2" charset="-122"/>
                <a:cs typeface="宋体" panose="02010600030101010101" pitchFamily="2" charset="-122"/>
              </a:rPr>
              <a:t>你</a:t>
            </a:r>
            <a:r>
              <a:rPr sz="2000" spc="30" dirty="0">
                <a:latin typeface="宋体" panose="02010600030101010101" pitchFamily="2" charset="-122"/>
                <a:cs typeface="宋体" panose="02010600030101010101" pitchFamily="2" charset="-122"/>
              </a:rPr>
              <a:t>认</a:t>
            </a:r>
            <a:r>
              <a:rPr sz="2000" spc="15" dirty="0">
                <a:latin typeface="宋体" panose="02010600030101010101" pitchFamily="2" charset="-122"/>
                <a:cs typeface="宋体" panose="02010600030101010101" pitchFamily="2" charset="-122"/>
              </a:rPr>
              <a:t>为</a:t>
            </a:r>
            <a:r>
              <a:rPr sz="2000" spc="-50" dirty="0">
                <a:latin typeface="宋体" panose="02010600030101010101" pitchFamily="2" charset="-122"/>
                <a:cs typeface="宋体" panose="02010600030101010101" pitchFamily="2" charset="-122"/>
              </a:rPr>
              <a:t>很</a:t>
            </a:r>
            <a:r>
              <a:rPr sz="2000" spc="20" dirty="0">
                <a:latin typeface="宋体" panose="02010600030101010101" pitchFamily="2" charset="-122"/>
                <a:cs typeface="宋体" panose="02010600030101010101" pitchFamily="2" charset="-122"/>
              </a:rPr>
              <a:t>好 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的技</a:t>
            </a:r>
            <a:r>
              <a:rPr sz="2000" spc="15" dirty="0">
                <a:latin typeface="宋体" panose="02010600030101010101" pitchFamily="2" charset="-122"/>
                <a:cs typeface="宋体" panose="02010600030101010101" pitchFamily="2" charset="-122"/>
              </a:rPr>
              <a:t>术</a:t>
            </a:r>
            <a:r>
              <a:rPr sz="2000" spc="-55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我们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会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给予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鼓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励，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适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当加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分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，但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加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分分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值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不超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过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满分的 </a:t>
            </a:r>
            <a:r>
              <a:rPr sz="2000" spc="25" dirty="0">
                <a:latin typeface="Times New Roman" panose="02020603050405020304"/>
                <a:cs typeface="Times New Roman" panose="02020603050405020304"/>
              </a:rPr>
              <a:t>20%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20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88925">
              <a:lnSpc>
                <a:spcPct val="100000"/>
              </a:lnSpc>
              <a:spcBef>
                <a:spcPts val="300"/>
              </a:spcBef>
              <a:tabLst>
                <a:tab pos="565150" algn="l"/>
              </a:tabLst>
            </a:pPr>
            <a:r>
              <a:rPr sz="1500" dirty="0">
                <a:solidFill>
                  <a:srgbClr val="51848E"/>
                </a:solidFill>
                <a:latin typeface="Wingdings 3" panose="05040102010807070707"/>
                <a:cs typeface="Wingdings 3" panose="05040102010807070707"/>
              </a:rPr>
              <a:t></a:t>
            </a:r>
            <a:r>
              <a:rPr sz="1500" dirty="0">
                <a:solidFill>
                  <a:srgbClr val="51848E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你的</a:t>
            </a:r>
            <a:r>
              <a:rPr sz="2000" spc="15" dirty="0">
                <a:latin typeface="宋体" panose="02010600030101010101" pitchFamily="2" charset="-122"/>
                <a:cs typeface="宋体" panose="02010600030101010101" pitchFamily="2" charset="-122"/>
              </a:rPr>
              <a:t>创</a:t>
            </a:r>
            <a:r>
              <a:rPr sz="2000" spc="-55" dirty="0">
                <a:latin typeface="宋体" panose="02010600030101010101" pitchFamily="2" charset="-122"/>
                <a:cs typeface="宋体" panose="02010600030101010101" pitchFamily="2" charset="-122"/>
              </a:rPr>
              <a:t>新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点需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要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在现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场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测试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实验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报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告中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向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助教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说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明。</a:t>
            </a:r>
            <a:endParaRPr sz="2000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490"/>
              </a:spcBef>
            </a:pPr>
            <a:fld id="{81D60167-4931-47E6-BA6A-407CBD079E47}" type="slidenum">
              <a:rPr spc="10" dirty="0"/>
              <a:t>10</a:t>
            </a:fld>
            <a:endParaRPr spc="1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74662" y="267017"/>
            <a:ext cx="2057400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spc="95" dirty="0">
                <a:solidFill>
                  <a:srgbClr val="000000"/>
                </a:solidFill>
              </a:rPr>
              <a:t>评</a:t>
            </a:r>
            <a:r>
              <a:rPr sz="3950" spc="30" dirty="0">
                <a:solidFill>
                  <a:srgbClr val="000000"/>
                </a:solidFill>
              </a:rPr>
              <a:t>分标准</a:t>
            </a:r>
            <a:endParaRPr sz="39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575" y="1170511"/>
            <a:ext cx="7950834" cy="3229730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5"/>
              </a:spcBef>
              <a:tabLst>
                <a:tab pos="288925" algn="l"/>
              </a:tabLst>
            </a:pPr>
            <a:r>
              <a:rPr sz="1800" dirty="0">
                <a:solidFill>
                  <a:srgbClr val="4679B0"/>
                </a:solidFill>
                <a:latin typeface="Wingdings 3" panose="05040102010807070707"/>
                <a:cs typeface="Wingdings 3" panose="05040102010807070707"/>
              </a:rPr>
              <a:t></a:t>
            </a:r>
            <a:r>
              <a:rPr sz="1800" dirty="0">
                <a:solidFill>
                  <a:srgbClr val="4679B0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spc="-5" dirty="0">
                <a:latin typeface="Times New Roman" panose="02020603050405020304"/>
                <a:cs typeface="Times New Roman" panose="02020603050405020304"/>
              </a:rPr>
              <a:t>1. </a:t>
            </a:r>
            <a:r>
              <a:rPr sz="2400" dirty="0" err="1">
                <a:latin typeface="宋体" panose="02010600030101010101" pitchFamily="2" charset="-122"/>
                <a:cs typeface="宋体" panose="02010600030101010101" pitchFamily="2" charset="-122"/>
              </a:rPr>
              <a:t>实验报告</a:t>
            </a:r>
            <a:endParaRPr sz="24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  <a:tabLst>
                <a:tab pos="288925" algn="l"/>
                <a:tab pos="669925" algn="l"/>
              </a:tabLst>
            </a:pPr>
            <a:r>
              <a:rPr sz="1800" dirty="0">
                <a:solidFill>
                  <a:srgbClr val="4679B0"/>
                </a:solidFill>
                <a:latin typeface="Wingdings 3" panose="05040102010807070707"/>
                <a:cs typeface="Wingdings 3" panose="05040102010807070707"/>
              </a:rPr>
              <a:t></a:t>
            </a:r>
            <a:r>
              <a:rPr sz="1800" dirty="0">
                <a:solidFill>
                  <a:srgbClr val="4679B0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2.</a:t>
            </a:r>
            <a:r>
              <a:rPr lang="zh-CN" altLang="en-US" sz="24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 err="1">
                <a:latin typeface="宋体" panose="02010600030101010101" pitchFamily="2" charset="-122"/>
                <a:cs typeface="宋体" panose="02010600030101010101" pitchFamily="2" charset="-122"/>
              </a:rPr>
              <a:t>实验源代码</a:t>
            </a:r>
            <a:endParaRPr sz="24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565785" marR="5080" indent="-276860">
              <a:lnSpc>
                <a:spcPts val="2250"/>
              </a:lnSpc>
              <a:spcBef>
                <a:spcPts val="875"/>
              </a:spcBef>
              <a:tabLst>
                <a:tab pos="565150" algn="l"/>
              </a:tabLst>
            </a:pPr>
            <a:r>
              <a:rPr sz="1500" dirty="0">
                <a:solidFill>
                  <a:srgbClr val="51848E"/>
                </a:solidFill>
                <a:latin typeface="Wingdings 3" panose="05040102010807070707"/>
                <a:cs typeface="Wingdings 3" panose="05040102010807070707"/>
              </a:rPr>
              <a:t></a:t>
            </a:r>
            <a:r>
              <a:rPr sz="1500" dirty="0">
                <a:solidFill>
                  <a:srgbClr val="51848E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源代</a:t>
            </a:r>
            <a:r>
              <a:rPr sz="2000" spc="15" dirty="0">
                <a:latin typeface="宋体" panose="02010600030101010101" pitchFamily="2" charset="-122"/>
                <a:cs typeface="宋体" panose="02010600030101010101" pitchFamily="2" charset="-122"/>
              </a:rPr>
              <a:t>码</a:t>
            </a:r>
            <a:r>
              <a:rPr sz="2000" spc="-55" dirty="0">
                <a:latin typeface="宋体" panose="02010600030101010101" pitchFamily="2" charset="-122"/>
                <a:cs typeface="宋体" panose="02010600030101010101" pitchFamily="2" charset="-122"/>
              </a:rPr>
              <a:t>中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要有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必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要的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注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释，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最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好附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加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一份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关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于整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个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代码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目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录的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简</a:t>
            </a:r>
            <a:r>
              <a:rPr sz="2000" spc="20" dirty="0">
                <a:latin typeface="宋体" panose="02010600030101010101" pitchFamily="2" charset="-122"/>
                <a:cs typeface="宋体" panose="02010600030101010101" pitchFamily="2" charset="-122"/>
              </a:rPr>
              <a:t>要 说明。</a:t>
            </a:r>
            <a:endParaRPr sz="20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  <a:tabLst>
                <a:tab pos="288925" algn="l"/>
                <a:tab pos="669925" algn="l"/>
              </a:tabLst>
            </a:pPr>
            <a:r>
              <a:rPr sz="1800" dirty="0">
                <a:solidFill>
                  <a:srgbClr val="4679B0"/>
                </a:solidFill>
                <a:latin typeface="Wingdings 3" panose="05040102010807070707"/>
                <a:cs typeface="Wingdings 3" panose="05040102010807070707"/>
              </a:rPr>
              <a:t></a:t>
            </a:r>
            <a:r>
              <a:rPr sz="1800" dirty="0">
                <a:solidFill>
                  <a:srgbClr val="4679B0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spc="-5" dirty="0">
                <a:latin typeface="Times New Roman" panose="02020603050405020304"/>
                <a:cs typeface="Times New Roman" panose="02020603050405020304"/>
              </a:rPr>
              <a:t>3.</a:t>
            </a:r>
            <a:r>
              <a:rPr lang="zh-CN" altLang="en-US" sz="24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 err="1">
                <a:latin typeface="宋体" panose="02010600030101010101" pitchFamily="2" charset="-122"/>
                <a:cs typeface="宋体" panose="02010600030101010101" pitchFamily="2" charset="-122"/>
              </a:rPr>
              <a:t>数据库脚本</a:t>
            </a:r>
            <a:endParaRPr sz="24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88925">
              <a:lnSpc>
                <a:spcPct val="100000"/>
              </a:lnSpc>
              <a:spcBef>
                <a:spcPts val="525"/>
              </a:spcBef>
              <a:tabLst>
                <a:tab pos="565150" algn="l"/>
              </a:tabLst>
            </a:pPr>
            <a:r>
              <a:rPr sz="1500" dirty="0">
                <a:solidFill>
                  <a:srgbClr val="51848E"/>
                </a:solidFill>
                <a:latin typeface="Wingdings 3" panose="05040102010807070707"/>
                <a:cs typeface="Wingdings 3" panose="05040102010807070707"/>
              </a:rPr>
              <a:t></a:t>
            </a:r>
            <a:r>
              <a:rPr sz="1500" dirty="0">
                <a:solidFill>
                  <a:srgbClr val="51848E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实验</a:t>
            </a:r>
            <a:r>
              <a:rPr sz="2000" spc="15" dirty="0">
                <a:latin typeface="宋体" panose="02010600030101010101" pitchFamily="2" charset="-122"/>
                <a:cs typeface="宋体" panose="02010600030101010101" pitchFamily="2" charset="-122"/>
              </a:rPr>
              <a:t>过</a:t>
            </a:r>
            <a:r>
              <a:rPr sz="2000" spc="-55" dirty="0">
                <a:latin typeface="宋体" panose="02010600030101010101" pitchFamily="2" charset="-122"/>
                <a:cs typeface="宋体" panose="02010600030101010101" pitchFamily="2" charset="-122"/>
              </a:rPr>
              <a:t>程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中，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你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创建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或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修改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数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据库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用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到的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数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据库</a:t>
            </a:r>
            <a:r>
              <a:rPr sz="2000" spc="-60" dirty="0">
                <a:latin typeface="宋体" panose="02010600030101010101" pitchFamily="2" charset="-122"/>
                <a:cs typeface="宋体" panose="02010600030101010101" pitchFamily="2" charset="-122"/>
              </a:rPr>
              <a:t>脚</a:t>
            </a:r>
            <a:r>
              <a:rPr sz="2000" spc="25" dirty="0">
                <a:latin typeface="宋体" panose="02010600030101010101" pitchFamily="2" charset="-122"/>
                <a:cs typeface="宋体" panose="02010600030101010101" pitchFamily="2" charset="-122"/>
              </a:rPr>
              <a:t>本。</a:t>
            </a:r>
            <a:endParaRPr sz="20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  <a:tabLst>
                <a:tab pos="288925" algn="l"/>
              </a:tabLst>
            </a:pPr>
            <a:r>
              <a:rPr sz="1800" dirty="0">
                <a:solidFill>
                  <a:srgbClr val="4679B0"/>
                </a:solidFill>
                <a:latin typeface="Wingdings 3" panose="05040102010807070707"/>
                <a:cs typeface="Wingdings 3" panose="05040102010807070707"/>
              </a:rPr>
              <a:t></a:t>
            </a:r>
            <a:r>
              <a:rPr sz="1800" dirty="0">
                <a:solidFill>
                  <a:srgbClr val="4679B0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dirty="0">
                <a:latin typeface="宋体" panose="02010600030101010101" pitchFamily="2" charset="-122"/>
                <a:cs typeface="宋体" panose="02010600030101010101" pitchFamily="2" charset="-122"/>
              </a:rPr>
              <a:t>以上内容打包为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rar/zip</a:t>
            </a:r>
            <a:r>
              <a:rPr sz="2400" dirty="0">
                <a:latin typeface="宋体" panose="02010600030101010101" pitchFamily="2" charset="-122"/>
                <a:cs typeface="宋体" panose="02010600030101010101" pitchFamily="2" charset="-122"/>
              </a:rPr>
              <a:t>格式压缩包，以“</a:t>
            </a:r>
            <a:r>
              <a:rPr sz="24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中期实验</a:t>
            </a:r>
            <a:r>
              <a:rPr sz="240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_</a:t>
            </a:r>
            <a:r>
              <a:rPr sz="24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学号</a:t>
            </a:r>
            <a:r>
              <a:rPr sz="240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_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288925">
              <a:lnSpc>
                <a:spcPct val="100000"/>
              </a:lnSpc>
              <a:spcBef>
                <a:spcPts val="45"/>
              </a:spcBef>
            </a:pPr>
            <a:r>
              <a:rPr sz="24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姓名</a:t>
            </a:r>
            <a:r>
              <a:rPr sz="2400" dirty="0">
                <a:latin typeface="宋体" panose="02010600030101010101" pitchFamily="2" charset="-122"/>
                <a:cs typeface="宋体" panose="02010600030101010101" pitchFamily="2" charset="-122"/>
              </a:rPr>
              <a:t>”命名</a:t>
            </a:r>
            <a:r>
              <a:rPr sz="2400" spc="5" dirty="0"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2400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74662" y="267017"/>
            <a:ext cx="3075940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spc="95" dirty="0">
                <a:solidFill>
                  <a:srgbClr val="000000"/>
                </a:solidFill>
              </a:rPr>
              <a:t>实</a:t>
            </a:r>
            <a:r>
              <a:rPr sz="3950" spc="30" dirty="0">
                <a:solidFill>
                  <a:srgbClr val="000000"/>
                </a:solidFill>
              </a:rPr>
              <a:t>验提</a:t>
            </a:r>
            <a:r>
              <a:rPr sz="3950" spc="85" dirty="0">
                <a:solidFill>
                  <a:srgbClr val="000000"/>
                </a:solidFill>
              </a:rPr>
              <a:t>交</a:t>
            </a:r>
            <a:r>
              <a:rPr sz="3950" spc="30" dirty="0">
                <a:solidFill>
                  <a:srgbClr val="000000"/>
                </a:solidFill>
              </a:rPr>
              <a:t>内容</a:t>
            </a:r>
            <a:endParaRPr sz="395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490"/>
              </a:spcBef>
            </a:pPr>
            <a:fld id="{81D60167-4931-47E6-BA6A-407CBD079E47}" type="slidenum">
              <a:rPr spc="10" dirty="0"/>
              <a:t>11</a:t>
            </a:fld>
            <a:endParaRPr spc="1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575" y="1181353"/>
            <a:ext cx="5992495" cy="2551981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  <a:tabLst>
                <a:tab pos="288925" algn="l"/>
              </a:tabLst>
            </a:pPr>
            <a:r>
              <a:rPr sz="2100" dirty="0">
                <a:solidFill>
                  <a:srgbClr val="4679B0"/>
                </a:solidFill>
                <a:latin typeface="Wingdings 3" panose="05040102010807070707"/>
                <a:cs typeface="Wingdings 3" panose="05040102010807070707"/>
              </a:rPr>
              <a:t></a:t>
            </a:r>
            <a:r>
              <a:rPr sz="2100" dirty="0">
                <a:solidFill>
                  <a:srgbClr val="4679B0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750" spc="95" dirty="0">
                <a:latin typeface="宋体" panose="02010600030101010101" pitchFamily="2" charset="-122"/>
                <a:cs typeface="宋体" panose="02010600030101010101" pitchFamily="2" charset="-122"/>
              </a:rPr>
              <a:t>尽</a:t>
            </a:r>
            <a:r>
              <a:rPr sz="2750" spc="30" dirty="0">
                <a:latin typeface="宋体" panose="02010600030101010101" pitchFamily="2" charset="-122"/>
                <a:cs typeface="宋体" panose="02010600030101010101" pitchFamily="2" charset="-122"/>
              </a:rPr>
              <a:t>早动</a:t>
            </a:r>
            <a:r>
              <a:rPr sz="2750" spc="90" dirty="0">
                <a:latin typeface="宋体" panose="02010600030101010101" pitchFamily="2" charset="-122"/>
                <a:cs typeface="宋体" panose="02010600030101010101" pitchFamily="2" charset="-122"/>
              </a:rPr>
              <a:t>手</a:t>
            </a:r>
            <a:r>
              <a:rPr sz="2750" spc="30" dirty="0">
                <a:latin typeface="宋体" panose="02010600030101010101" pitchFamily="2" charset="-122"/>
                <a:cs typeface="宋体" panose="02010600030101010101" pitchFamily="2" charset="-122"/>
              </a:rPr>
              <a:t>；</a:t>
            </a:r>
            <a:endParaRPr sz="275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  <a:tabLst>
                <a:tab pos="288925" algn="l"/>
              </a:tabLst>
            </a:pPr>
            <a:r>
              <a:rPr sz="2100" dirty="0">
                <a:solidFill>
                  <a:srgbClr val="4679B0"/>
                </a:solidFill>
                <a:latin typeface="Wingdings 3" panose="05040102010807070707"/>
                <a:cs typeface="Wingdings 3" panose="05040102010807070707"/>
              </a:rPr>
              <a:t></a:t>
            </a:r>
            <a:r>
              <a:rPr sz="2100" dirty="0">
                <a:solidFill>
                  <a:srgbClr val="4679B0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750" spc="95" dirty="0">
                <a:latin typeface="宋体" panose="02010600030101010101" pitchFamily="2" charset="-122"/>
                <a:cs typeface="宋体" panose="02010600030101010101" pitchFamily="2" charset="-122"/>
              </a:rPr>
              <a:t>专</a:t>
            </a:r>
            <a:r>
              <a:rPr sz="2750" spc="30" dirty="0">
                <a:latin typeface="宋体" panose="02010600030101010101" pitchFamily="2" charset="-122"/>
                <a:cs typeface="宋体" panose="02010600030101010101" pitchFamily="2" charset="-122"/>
              </a:rPr>
              <a:t>注于</a:t>
            </a:r>
            <a:r>
              <a:rPr sz="2750" spc="90" dirty="0">
                <a:latin typeface="宋体" panose="02010600030101010101" pitchFamily="2" charset="-122"/>
                <a:cs typeface="宋体" panose="02010600030101010101" pitchFamily="2" charset="-122"/>
              </a:rPr>
              <a:t>数</a:t>
            </a:r>
            <a:r>
              <a:rPr sz="2750" spc="30" dirty="0">
                <a:latin typeface="宋体" panose="02010600030101010101" pitchFamily="2" charset="-122"/>
                <a:cs typeface="宋体" panose="02010600030101010101" pitchFamily="2" charset="-122"/>
              </a:rPr>
              <a:t>据库</a:t>
            </a:r>
            <a:r>
              <a:rPr sz="2750" spc="90" dirty="0">
                <a:latin typeface="宋体" panose="02010600030101010101" pitchFamily="2" charset="-122"/>
                <a:cs typeface="宋体" panose="02010600030101010101" pitchFamily="2" charset="-122"/>
              </a:rPr>
              <a:t>设</a:t>
            </a:r>
            <a:r>
              <a:rPr sz="2750" spc="30" dirty="0">
                <a:latin typeface="宋体" panose="02010600030101010101" pitchFamily="2" charset="-122"/>
                <a:cs typeface="宋体" panose="02010600030101010101" pitchFamily="2" charset="-122"/>
              </a:rPr>
              <a:t>计和</a:t>
            </a:r>
            <a:r>
              <a:rPr sz="2750" spc="90" dirty="0">
                <a:latin typeface="宋体" panose="02010600030101010101" pitchFamily="2" charset="-122"/>
                <a:cs typeface="宋体" panose="02010600030101010101" pitchFamily="2" charset="-122"/>
              </a:rPr>
              <a:t>系</a:t>
            </a:r>
            <a:r>
              <a:rPr sz="2750" spc="30" dirty="0">
                <a:latin typeface="宋体" panose="02010600030101010101" pitchFamily="2" charset="-122"/>
                <a:cs typeface="宋体" panose="02010600030101010101" pitchFamily="2" charset="-122"/>
              </a:rPr>
              <a:t>统功</a:t>
            </a:r>
            <a:r>
              <a:rPr sz="2750" spc="90" dirty="0">
                <a:latin typeface="宋体" panose="02010600030101010101" pitchFamily="2" charset="-122"/>
                <a:cs typeface="宋体" panose="02010600030101010101" pitchFamily="2" charset="-122"/>
              </a:rPr>
              <a:t>能</a:t>
            </a:r>
            <a:r>
              <a:rPr sz="2750" spc="30" dirty="0">
                <a:latin typeface="宋体" panose="02010600030101010101" pitchFamily="2" charset="-122"/>
                <a:cs typeface="宋体" panose="02010600030101010101" pitchFamily="2" charset="-122"/>
              </a:rPr>
              <a:t>设计；</a:t>
            </a:r>
            <a:endParaRPr sz="275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  <a:tabLst>
                <a:tab pos="288925" algn="l"/>
              </a:tabLst>
            </a:pPr>
            <a:r>
              <a:rPr sz="2100" dirty="0">
                <a:solidFill>
                  <a:srgbClr val="4679B0"/>
                </a:solidFill>
                <a:latin typeface="Wingdings 3" panose="05040102010807070707"/>
                <a:cs typeface="Wingdings 3" panose="05040102010807070707"/>
              </a:rPr>
              <a:t></a:t>
            </a:r>
            <a:r>
              <a:rPr sz="2100" dirty="0">
                <a:solidFill>
                  <a:srgbClr val="4679B0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750" spc="95" dirty="0">
                <a:latin typeface="宋体" panose="02010600030101010101" pitchFamily="2" charset="-122"/>
                <a:cs typeface="宋体" panose="02010600030101010101" pitchFamily="2" charset="-122"/>
              </a:rPr>
              <a:t>准</a:t>
            </a:r>
            <a:r>
              <a:rPr sz="2750" spc="30" dirty="0">
                <a:latin typeface="宋体" panose="02010600030101010101" pitchFamily="2" charset="-122"/>
                <a:cs typeface="宋体" panose="02010600030101010101" pitchFamily="2" charset="-122"/>
              </a:rPr>
              <a:t>确理</a:t>
            </a:r>
            <a:r>
              <a:rPr sz="2750" spc="90" dirty="0">
                <a:latin typeface="宋体" panose="02010600030101010101" pitchFamily="2" charset="-122"/>
                <a:cs typeface="宋体" panose="02010600030101010101" pitchFamily="2" charset="-122"/>
              </a:rPr>
              <a:t>解</a:t>
            </a:r>
            <a:r>
              <a:rPr sz="2750" spc="30" dirty="0">
                <a:latin typeface="宋体" panose="02010600030101010101" pitchFamily="2" charset="-122"/>
                <a:cs typeface="宋体" panose="02010600030101010101" pitchFamily="2" charset="-122"/>
              </a:rPr>
              <a:t>实验</a:t>
            </a:r>
            <a:r>
              <a:rPr sz="2750" spc="90" dirty="0">
                <a:latin typeface="宋体" panose="02010600030101010101" pitchFamily="2" charset="-122"/>
                <a:cs typeface="宋体" panose="02010600030101010101" pitchFamily="2" charset="-122"/>
              </a:rPr>
              <a:t>要</a:t>
            </a:r>
            <a:r>
              <a:rPr sz="2750" spc="30" dirty="0">
                <a:latin typeface="宋体" panose="02010600030101010101" pitchFamily="2" charset="-122"/>
                <a:cs typeface="宋体" panose="02010600030101010101" pitchFamily="2" charset="-122"/>
              </a:rPr>
              <a:t>求；</a:t>
            </a:r>
            <a:endParaRPr sz="275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  <a:tabLst>
                <a:tab pos="288925" algn="l"/>
              </a:tabLst>
            </a:pPr>
            <a:r>
              <a:rPr sz="2100" dirty="0">
                <a:solidFill>
                  <a:srgbClr val="4679B0"/>
                </a:solidFill>
                <a:latin typeface="Wingdings 3" panose="05040102010807070707"/>
                <a:cs typeface="Wingdings 3" panose="05040102010807070707"/>
              </a:rPr>
              <a:t></a:t>
            </a:r>
            <a:r>
              <a:rPr sz="2100" dirty="0">
                <a:solidFill>
                  <a:srgbClr val="4679B0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750" spc="100" dirty="0" err="1">
                <a:latin typeface="宋体" panose="02010600030101010101" pitchFamily="2" charset="-122"/>
                <a:cs typeface="宋体" panose="02010600030101010101" pitchFamily="2" charset="-122"/>
              </a:rPr>
              <a:t>遇到问题</a:t>
            </a:r>
            <a:r>
              <a:rPr sz="2750" spc="-40" dirty="0" err="1">
                <a:latin typeface="Times New Roman" panose="02020603050405020304"/>
                <a:cs typeface="Times New Roman" panose="02020603050405020304"/>
              </a:rPr>
              <a:t>Google</a:t>
            </a:r>
            <a:r>
              <a:rPr sz="2750" spc="100" dirty="0" err="1">
                <a:latin typeface="宋体" panose="02010600030101010101" pitchFamily="2" charset="-122"/>
                <a:cs typeface="宋体" panose="02010600030101010101" pitchFamily="2" charset="-122"/>
              </a:rPr>
              <a:t>或</a:t>
            </a:r>
            <a:r>
              <a:rPr sz="2750" spc="95" dirty="0" err="1">
                <a:latin typeface="宋体" panose="02010600030101010101" pitchFamily="2" charset="-122"/>
                <a:cs typeface="宋体" panose="02010600030101010101" pitchFamily="2" charset="-122"/>
              </a:rPr>
              <a:t>者</a:t>
            </a:r>
            <a:r>
              <a:rPr sz="2750" spc="100" dirty="0" err="1">
                <a:latin typeface="宋体" panose="02010600030101010101" pitchFamily="2" charset="-122"/>
                <a:cs typeface="宋体" panose="02010600030101010101" pitchFamily="2" charset="-122"/>
              </a:rPr>
              <a:t>百度</a:t>
            </a:r>
            <a:r>
              <a:rPr lang="zh-CN" altLang="en-US" sz="2750" spc="100" dirty="0">
                <a:latin typeface="宋体" panose="02010600030101010101" pitchFamily="2" charset="-122"/>
                <a:cs typeface="宋体" panose="02010600030101010101" pitchFamily="2" charset="-122"/>
              </a:rPr>
              <a:t>或者</a:t>
            </a:r>
            <a:r>
              <a:rPr lang="en-US" altLang="zh-CN" sz="2750" spc="100" dirty="0">
                <a:latin typeface="宋体" panose="02010600030101010101" pitchFamily="2" charset="-122"/>
                <a:cs typeface="宋体" panose="02010600030101010101" pitchFamily="2" charset="-122"/>
              </a:rPr>
              <a:t>GPT</a:t>
            </a:r>
            <a:r>
              <a:rPr lang="zh-CN" altLang="en-US" sz="2750" spc="100" dirty="0">
                <a:latin typeface="宋体" panose="02010600030101010101" pitchFamily="2" charset="-122"/>
                <a:cs typeface="宋体" panose="02010600030101010101" pitchFamily="2" charset="-122"/>
              </a:rPr>
              <a:t>等</a:t>
            </a:r>
            <a:endParaRPr sz="275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  <a:tabLst>
                <a:tab pos="288925" algn="l"/>
              </a:tabLst>
            </a:pPr>
            <a:r>
              <a:rPr sz="2100" dirty="0">
                <a:solidFill>
                  <a:srgbClr val="4679B0"/>
                </a:solidFill>
                <a:latin typeface="Wingdings 3" panose="05040102010807070707"/>
                <a:cs typeface="Wingdings 3" panose="05040102010807070707"/>
              </a:rPr>
              <a:t></a:t>
            </a:r>
            <a:r>
              <a:rPr sz="2100" dirty="0">
                <a:solidFill>
                  <a:srgbClr val="4679B0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750" spc="95" dirty="0" err="1">
                <a:latin typeface="宋体" panose="02010600030101010101" pitchFamily="2" charset="-122"/>
                <a:cs typeface="宋体" panose="02010600030101010101" pitchFamily="2" charset="-122"/>
              </a:rPr>
              <a:t>重</a:t>
            </a:r>
            <a:r>
              <a:rPr sz="2750" spc="25" dirty="0" err="1">
                <a:latin typeface="宋体" panose="02010600030101010101" pitchFamily="2" charset="-122"/>
                <a:cs typeface="宋体" panose="02010600030101010101" pitchFamily="2" charset="-122"/>
              </a:rPr>
              <a:t>视实</a:t>
            </a:r>
            <a:r>
              <a:rPr sz="2750" spc="95" dirty="0" err="1">
                <a:latin typeface="宋体" panose="02010600030101010101" pitchFamily="2" charset="-122"/>
                <a:cs typeface="宋体" panose="02010600030101010101" pitchFamily="2" charset="-122"/>
              </a:rPr>
              <a:t>验</a:t>
            </a:r>
            <a:r>
              <a:rPr sz="2750" spc="25" dirty="0" err="1">
                <a:latin typeface="宋体" panose="02010600030101010101" pitchFamily="2" charset="-122"/>
                <a:cs typeface="宋体" panose="02010600030101010101" pitchFamily="2" charset="-122"/>
              </a:rPr>
              <a:t>报告</a:t>
            </a:r>
            <a:r>
              <a:rPr sz="2750" spc="95" dirty="0" err="1">
                <a:latin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sz="2750" spc="25" dirty="0" err="1">
                <a:latin typeface="宋体" panose="02010600030101010101" pitchFamily="2" charset="-122"/>
                <a:cs typeface="宋体" panose="02010600030101010101" pitchFamily="2" charset="-122"/>
              </a:rPr>
              <a:t>撰写</a:t>
            </a:r>
            <a:r>
              <a:rPr sz="2750" spc="25" dirty="0"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en-US" sz="2750" spc="25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490"/>
              </a:spcBef>
            </a:pPr>
            <a:fld id="{81D60167-4931-47E6-BA6A-407CBD079E47}" type="slidenum">
              <a:rPr spc="10" dirty="0"/>
              <a:t>12</a:t>
            </a:fld>
            <a:endParaRPr spc="10"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74662" y="267017"/>
            <a:ext cx="2057400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spc="95" dirty="0">
                <a:solidFill>
                  <a:srgbClr val="000000"/>
                </a:solidFill>
              </a:rPr>
              <a:t>一</a:t>
            </a:r>
            <a:r>
              <a:rPr sz="3950" spc="30" dirty="0">
                <a:solidFill>
                  <a:srgbClr val="000000"/>
                </a:solidFill>
              </a:rPr>
              <a:t>些建议</a:t>
            </a:r>
            <a:endParaRPr sz="3950"/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AAEECD9A-982C-76C9-FBDA-E42EAC27BB99}"/>
              </a:ext>
            </a:extLst>
          </p:cNvPr>
          <p:cNvSpPr txBox="1"/>
          <p:nvPr/>
        </p:nvSpPr>
        <p:spPr>
          <a:xfrm>
            <a:off x="536575" y="4114800"/>
            <a:ext cx="7312026" cy="1651734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  <a:tabLst>
                <a:tab pos="288925" algn="l"/>
              </a:tabLst>
            </a:pPr>
            <a:r>
              <a:rPr lang="zh-CN" altLang="en-US" sz="2100" dirty="0">
                <a:solidFill>
                  <a:srgbClr val="4679B0"/>
                </a:solidFill>
                <a:latin typeface="Wingdings 3" panose="05040102010807070707"/>
                <a:cs typeface="Wingdings 3" panose="05040102010807070707"/>
              </a:rPr>
              <a:t>个人开发的一些建议</a:t>
            </a:r>
            <a:endParaRPr lang="en-US" altLang="zh-CN" sz="2100" dirty="0">
              <a:solidFill>
                <a:srgbClr val="4679B0"/>
              </a:solidFill>
              <a:latin typeface="Wingdings 3" panose="05040102010807070707"/>
              <a:cs typeface="Wingdings 3" panose="05040102010807070707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  <a:tabLst>
                <a:tab pos="288925" algn="l"/>
              </a:tabLst>
            </a:pPr>
            <a:r>
              <a:rPr sz="2100" dirty="0">
                <a:solidFill>
                  <a:srgbClr val="4679B0"/>
                </a:solidFill>
                <a:latin typeface="Wingdings 3" panose="05040102010807070707"/>
                <a:cs typeface="Wingdings 3" panose="05040102010807070707"/>
              </a:rPr>
              <a:t></a:t>
            </a:r>
            <a:r>
              <a:rPr sz="2100" dirty="0">
                <a:solidFill>
                  <a:srgbClr val="4679B0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lang="zh-CN" altLang="en-US" spc="30" dirty="0">
                <a:solidFill>
                  <a:srgbClr val="4679B0"/>
                </a:solidFill>
                <a:latin typeface="宋体" panose="02010600030101010101" pitchFamily="2" charset="-122"/>
                <a:cs typeface="Times New Roman" panose="02020603050405020304"/>
              </a:rPr>
              <a:t>两人一组，前后端分离，但是要保证数据库设计同时参与</a:t>
            </a:r>
            <a:endParaRPr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  <a:tabLst>
                <a:tab pos="288925" algn="l"/>
              </a:tabLst>
            </a:pPr>
            <a:r>
              <a:rPr sz="2100" dirty="0">
                <a:solidFill>
                  <a:srgbClr val="4679B0"/>
                </a:solidFill>
                <a:latin typeface="Wingdings 3" panose="05040102010807070707"/>
                <a:cs typeface="Wingdings 3" panose="05040102010807070707"/>
              </a:rPr>
              <a:t></a:t>
            </a:r>
            <a:r>
              <a:rPr sz="2100" dirty="0">
                <a:solidFill>
                  <a:srgbClr val="4679B0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lang="zh-CN" altLang="en-US" spc="30" dirty="0">
                <a:solidFill>
                  <a:srgbClr val="4679B0"/>
                </a:solidFill>
                <a:latin typeface="宋体" panose="02010600030101010101" pitchFamily="2" charset="-122"/>
                <a:cs typeface="Times New Roman" panose="02020603050405020304"/>
              </a:rPr>
              <a:t>可以使用</a:t>
            </a:r>
            <a:r>
              <a:rPr lang="en-US" altLang="zh-CN" spc="30" dirty="0" err="1">
                <a:solidFill>
                  <a:srgbClr val="4679B0"/>
                </a:solidFill>
                <a:latin typeface="宋体" panose="02010600030101010101" pitchFamily="2" charset="-122"/>
                <a:cs typeface="Times New Roman" panose="02020603050405020304"/>
              </a:rPr>
              <a:t>github</a:t>
            </a:r>
            <a:r>
              <a:rPr lang="zh-CN" altLang="en-US" spc="30" dirty="0">
                <a:solidFill>
                  <a:srgbClr val="4679B0"/>
                </a:solidFill>
                <a:latin typeface="宋体" panose="02010600030101010101" pitchFamily="2" charset="-122"/>
                <a:cs typeface="Times New Roman" panose="02020603050405020304"/>
              </a:rPr>
              <a:t>等代码托管平台来实现两人合作开发</a:t>
            </a:r>
            <a:endParaRPr spc="30" dirty="0">
              <a:solidFill>
                <a:srgbClr val="4679B0"/>
              </a:solidFill>
              <a:latin typeface="宋体" panose="02010600030101010101" pitchFamily="2" charset="-122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  <a:tabLst>
                <a:tab pos="288925" algn="l"/>
              </a:tabLst>
            </a:pPr>
            <a:r>
              <a:rPr sz="2100" dirty="0">
                <a:solidFill>
                  <a:srgbClr val="4679B0"/>
                </a:solidFill>
                <a:latin typeface="Wingdings 3" panose="05040102010807070707"/>
                <a:cs typeface="Wingdings 3" panose="05040102010807070707"/>
              </a:rPr>
              <a:t></a:t>
            </a:r>
            <a:r>
              <a:rPr sz="2100" dirty="0">
                <a:solidFill>
                  <a:srgbClr val="4679B0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lang="zh-CN" altLang="en-US" spc="30" dirty="0">
                <a:solidFill>
                  <a:srgbClr val="4679B0"/>
                </a:solidFill>
                <a:latin typeface="宋体" panose="02010600030101010101" pitchFamily="2" charset="-122"/>
                <a:cs typeface="Times New Roman" panose="02020603050405020304"/>
              </a:rPr>
              <a:t>强力推荐</a:t>
            </a:r>
            <a:r>
              <a:rPr lang="en-US" altLang="zh-CN" spc="30" dirty="0">
                <a:solidFill>
                  <a:srgbClr val="4679B0"/>
                </a:solidFill>
                <a:latin typeface="宋体" panose="02010600030101010101" pitchFamily="2" charset="-122"/>
                <a:cs typeface="Times New Roman" panose="02020603050405020304"/>
              </a:rPr>
              <a:t>Cursor</a:t>
            </a:r>
            <a:r>
              <a:rPr lang="zh-CN" altLang="en-US" spc="30" dirty="0">
                <a:solidFill>
                  <a:srgbClr val="4679B0"/>
                </a:solidFill>
                <a:latin typeface="宋体" panose="02010600030101010101" pitchFamily="2" charset="-122"/>
                <a:cs typeface="Times New Roman" panose="02020603050405020304"/>
              </a:rPr>
              <a:t>等</a:t>
            </a:r>
            <a:r>
              <a:rPr lang="en-US" altLang="zh-CN" spc="30" dirty="0">
                <a:solidFill>
                  <a:srgbClr val="4679B0"/>
                </a:solidFill>
                <a:latin typeface="宋体" panose="02010600030101010101" pitchFamily="2" charset="-122"/>
                <a:cs typeface="Times New Roman" panose="02020603050405020304"/>
              </a:rPr>
              <a:t>AI</a:t>
            </a:r>
            <a:r>
              <a:rPr lang="zh-CN" altLang="en-US" spc="30" dirty="0">
                <a:solidFill>
                  <a:srgbClr val="4679B0"/>
                </a:solidFill>
                <a:latin typeface="宋体" panose="02010600030101010101" pitchFamily="2" charset="-122"/>
                <a:cs typeface="Times New Roman" panose="02020603050405020304"/>
              </a:rPr>
              <a:t>开发工具，特别是前端部分</a:t>
            </a:r>
            <a:endParaRPr lang="en-US" altLang="zh-CN" spc="30" dirty="0">
              <a:solidFill>
                <a:srgbClr val="4679B0"/>
              </a:solidFill>
              <a:latin typeface="宋体" panose="02010600030101010101" pitchFamily="2" charset="-122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650</Words>
  <Application>Microsoft Macintosh PowerPoint</Application>
  <PresentationFormat>全屏显示(4:3)</PresentationFormat>
  <Paragraphs>95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宋体</vt:lpstr>
      <vt:lpstr>Microsoft JhengHei</vt:lpstr>
      <vt:lpstr>Book Antiqua</vt:lpstr>
      <vt:lpstr>Calibri</vt:lpstr>
      <vt:lpstr>Times New Roman</vt:lpstr>
      <vt:lpstr>Wingdings 3</vt:lpstr>
      <vt:lpstr>Office Theme</vt:lpstr>
      <vt:lpstr>中期实验</vt:lpstr>
      <vt:lpstr>中期实验</vt:lpstr>
      <vt:lpstr>主要功能</vt:lpstr>
      <vt:lpstr>主要功能</vt:lpstr>
      <vt:lpstr>主要功能</vt:lpstr>
      <vt:lpstr>主要功能</vt:lpstr>
      <vt:lpstr>实验说明</vt:lpstr>
      <vt:lpstr>实验说明</vt:lpstr>
      <vt:lpstr>实验说明</vt:lpstr>
      <vt:lpstr>评分标准</vt:lpstr>
      <vt:lpstr>实验提交内容</vt:lpstr>
      <vt:lpstr>一些建议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中期实验</dc:title>
  <dc:creator>huangwj</dc:creator>
  <cp:lastModifiedBy>凯南 涂</cp:lastModifiedBy>
  <cp:revision>12</cp:revision>
  <dcterms:created xsi:type="dcterms:W3CDTF">2022-04-08T02:33:37Z</dcterms:created>
  <dcterms:modified xsi:type="dcterms:W3CDTF">2026-05-06T13:33:19Z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2015-04-19T08:00:00Z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2022-04-08T08:00:00Z</vt:filetime>
  </property>
  <property fmtid="{D5CDD505-2E9C-101B-9397-08002B2CF9AE}" pid="5" name="ICV">
    <vt:lpwstr>DED496F46E1B499D9D96C555D2448FC4</vt:lpwstr>
  </property>
  <property fmtid="{D5CDD505-2E9C-101B-9397-08002B2CF9AE}" pid="6" name="KSOProductBuildVer">
    <vt:lpwstr>2052-11.1.0.11365</vt:lpwstr>
  </property>
</Properties>
</file>